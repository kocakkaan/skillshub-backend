
<file path=[Content_Types].xml><?xml version="1.0" encoding="utf-8"?>
<Types xmlns="http://schemas.openxmlformats.org/package/2006/content-types">
  <Default Extension="bin" ContentType="application/vnd.openxmlformats-officedocument.oleObject"/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tags/tag1.xml" ContentType="application/vnd.openxmlformats-officedocument.presentationml.tags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theme/theme2.xml" ContentType="application/vnd.openxmlformats-officedocument.theme+xml"/>
  <Override PartName="/ppt/theme/theme3.xml" ContentType="application/vnd.openxmlformats-officedocument.theme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8" r:id="rId4"/>
  </p:sldMasterIdLst>
  <p:notesMasterIdLst>
    <p:notesMasterId r:id="rId6"/>
  </p:notesMasterIdLst>
  <p:handoutMasterIdLst>
    <p:handoutMasterId r:id="rId7"/>
  </p:handoutMasterIdLst>
  <p:sldIdLst>
    <p:sldId id="275" r:id="rId5"/>
  </p:sldIdLst>
  <p:sldSz cx="12192000" cy="6858000"/>
  <p:notesSz cx="6858000" cy="9144000"/>
  <p:custDataLst>
    <p:tags r:id="rId8"/>
  </p:custDataLst>
  <p:defaultTextStyle>
    <a:defPPr>
      <a:defRPr lang="it-I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797" userDrawn="1">
          <p15:clr>
            <a:srgbClr val="A4A3A4"/>
          </p15:clr>
        </p15:guide>
        <p15:guide id="2" pos="198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FB394CB5-2D2F-ACCB-DE02-FE54B343AEB8}" name="Henryk Borzymowski" initials="HB" userId="S::h.borzymowski@reply.de::984477be-26c8-4e5a-9d06-d6f9dec95ae7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Jaeschke Robert" initials="JR" lastIdx="2" clrIdx="0">
    <p:extLst>
      <p:ext uri="{19B8F6BF-5375-455C-9EA6-DF929625EA0E}">
        <p15:presenceInfo xmlns:p15="http://schemas.microsoft.com/office/powerpoint/2012/main" userId="S::r.jaeschke@reply.de::39d8a4b2-d733-4433-988e-492bfaa0cdc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23455"/>
    <a:srgbClr val="505272"/>
    <a:srgbClr val="8D8EA9"/>
    <a:srgbClr val="CCCDD8"/>
    <a:srgbClr val="505273"/>
    <a:srgbClr val="4E4E86"/>
    <a:srgbClr val="7076AC"/>
    <a:srgbClr val="B0B4DD"/>
    <a:srgbClr val="B1B2C4"/>
    <a:srgbClr val="878B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4" d="100"/>
          <a:sy n="104" d="100"/>
        </p:scale>
        <p:origin x="168" y="174"/>
      </p:cViewPr>
      <p:guideLst>
        <p:guide orient="horz" pos="1797"/>
        <p:guide pos="198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>
        <p:scale>
          <a:sx n="1" d="2"/>
          <a:sy n="1" d="2"/>
        </p:scale>
        <p:origin x="0" y="0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gs" Target="tags/tag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handoutMaster" Target="handoutMasters/handoutMaster1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notesMaster" Target="notesMasters/notesMaster1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commentAuthors" Target="commentAuthors.xml"/><Relationship Id="rId14" Type="http://schemas.microsoft.com/office/2018/10/relationships/authors" Target="author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36C3EA9E-6BDC-4A79-AFF7-99C44CB824C7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57F4F1B-A484-48CA-949E-C54FAD24ACD3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3440642-083C-45F1-96AE-6C40D1428CD6}" type="datetimeFigureOut">
              <a:rPr lang="en-GB" smtClean="0"/>
              <a:t>16/04/2025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195FCCD8-E031-4ADB-97E6-0462DC70D0F2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34311C-44CC-49A8-A38C-3C038F9763D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FB2F52F-549D-4565-87BA-A1055EB5BA15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3889653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egnaposto intestazion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3" name="Segnaposto dat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EE2F1A5-1147-44AA-941C-401C9E3002E6}" type="datetimeFigureOut">
              <a:rPr lang="en-US" smtClean="0"/>
              <a:t>4/16/2025</a:t>
            </a:fld>
            <a:endParaRPr lang="en-US"/>
          </a:p>
        </p:txBody>
      </p:sp>
      <p:sp>
        <p:nvSpPr>
          <p:cNvPr id="4" name="Segnaposto immagin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it-IT"/>
          </a:p>
        </p:txBody>
      </p:sp>
      <p:sp>
        <p:nvSpPr>
          <p:cNvPr id="5" name="Segnaposto note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Modifica gli stili del testo dello schema</a:t>
            </a:r>
          </a:p>
          <a:p>
            <a:pPr lvl="1"/>
            <a:r>
              <a:rPr lang="en-US"/>
              <a:t>Secondo livello</a:t>
            </a:r>
          </a:p>
          <a:p>
            <a:pPr lvl="2"/>
            <a:r>
              <a:rPr lang="en-US"/>
              <a:t>Terzo livello</a:t>
            </a:r>
          </a:p>
          <a:p>
            <a:pPr lvl="3"/>
            <a:r>
              <a:rPr lang="en-US"/>
              <a:t>Quarto livello</a:t>
            </a:r>
          </a:p>
          <a:p>
            <a:pPr lvl="4"/>
            <a:r>
              <a:rPr lang="en-US"/>
              <a:t>Quinto livello</a:t>
            </a:r>
          </a:p>
        </p:txBody>
      </p:sp>
      <p:sp>
        <p:nvSpPr>
          <p:cNvPr id="6" name="Segnaposto piè di pa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eaLnBrk="1">
              <a:defRPr sz="1200"/>
            </a:lvl1pPr>
          </a:lstStyle>
          <a:p>
            <a:endParaRPr lang="en-US"/>
          </a:p>
        </p:txBody>
      </p:sp>
      <p:sp>
        <p:nvSpPr>
          <p:cNvPr id="7" name="Segnaposto numero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AF3249D-E364-4AF9-8113-7FC01C784A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964443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13" Type="http://schemas.openxmlformats.org/officeDocument/2006/relationships/image" Target="../media/image11.svg"/><Relationship Id="rId18" Type="http://schemas.openxmlformats.org/officeDocument/2006/relationships/image" Target="../media/image15.emf"/><Relationship Id="rId3" Type="http://schemas.openxmlformats.org/officeDocument/2006/relationships/slideMaster" Target="../slideMasters/slideMaster1.xml"/><Relationship Id="rId7" Type="http://schemas.openxmlformats.org/officeDocument/2006/relationships/image" Target="../media/image5.svg"/><Relationship Id="rId12" Type="http://schemas.openxmlformats.org/officeDocument/2006/relationships/image" Target="../media/image10.png"/><Relationship Id="rId17" Type="http://schemas.openxmlformats.org/officeDocument/2006/relationships/image" Target="../media/image14.emf"/><Relationship Id="rId2" Type="http://schemas.openxmlformats.org/officeDocument/2006/relationships/tags" Target="../tags/tag4.xml"/><Relationship Id="rId16" Type="http://schemas.openxmlformats.org/officeDocument/2006/relationships/oleObject" Target="../embeddings/oleObject2.bin"/><Relationship Id="rId1" Type="http://schemas.openxmlformats.org/officeDocument/2006/relationships/tags" Target="../tags/tag3.xml"/><Relationship Id="rId6" Type="http://schemas.openxmlformats.org/officeDocument/2006/relationships/image" Target="../media/image4.png"/><Relationship Id="rId11" Type="http://schemas.openxmlformats.org/officeDocument/2006/relationships/image" Target="../media/image9.svg"/><Relationship Id="rId5" Type="http://schemas.openxmlformats.org/officeDocument/2006/relationships/image" Target="../media/image3.svg"/><Relationship Id="rId15" Type="http://schemas.openxmlformats.org/officeDocument/2006/relationships/image" Target="../media/image13.svg"/><Relationship Id="rId10" Type="http://schemas.openxmlformats.org/officeDocument/2006/relationships/image" Target="../media/image8.png"/><Relationship Id="rId19" Type="http://schemas.openxmlformats.org/officeDocument/2006/relationships/image" Target="../media/image16.png"/><Relationship Id="rId4" Type="http://schemas.openxmlformats.org/officeDocument/2006/relationships/image" Target="../media/image2.png"/><Relationship Id="rId9" Type="http://schemas.openxmlformats.org/officeDocument/2006/relationships/image" Target="../media/image7.svg"/><Relationship Id="rId14" Type="http://schemas.openxmlformats.org/officeDocument/2006/relationships/image" Target="../media/image1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7_Title and Content O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tangle 21">
            <a:extLst>
              <a:ext uri="{FF2B5EF4-FFF2-40B4-BE49-F238E27FC236}">
                <a16:creationId xmlns:a16="http://schemas.microsoft.com/office/drawing/2014/main" id="{F06D543E-D962-81CC-7077-BE8ECC953509}"/>
              </a:ext>
            </a:extLst>
          </p:cNvPr>
          <p:cNvSpPr/>
          <p:nvPr userDrawn="1"/>
        </p:nvSpPr>
        <p:spPr>
          <a:xfrm flipH="1">
            <a:off x="-141768" y="-155944"/>
            <a:ext cx="4811267" cy="7208874"/>
          </a:xfrm>
          <a:prstGeom prst="rect">
            <a:avLst/>
          </a:prstGeom>
          <a:solidFill>
            <a:srgbClr val="2BAA52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Rectangle 22">
            <a:extLst>
              <a:ext uri="{FF2B5EF4-FFF2-40B4-BE49-F238E27FC236}">
                <a16:creationId xmlns:a16="http://schemas.microsoft.com/office/drawing/2014/main" id="{E07DEEF2-CB40-B34B-E1EF-15A72715431E}"/>
              </a:ext>
            </a:extLst>
          </p:cNvPr>
          <p:cNvSpPr/>
          <p:nvPr userDrawn="1"/>
        </p:nvSpPr>
        <p:spPr>
          <a:xfrm>
            <a:off x="4881745" y="1494138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INITIALE SITUATION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FD44134E-2AE8-A301-D417-77DF4C870EE3}"/>
              </a:ext>
            </a:extLst>
          </p:cNvPr>
          <p:cNvSpPr/>
          <p:nvPr userDrawn="1"/>
        </p:nvSpPr>
        <p:spPr>
          <a:xfrm>
            <a:off x="4881745" y="3057563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HERAUSFORDERUNGEN</a:t>
            </a:r>
            <a:endParaRPr lang="en-GB" b="1">
              <a:solidFill>
                <a:schemeClr val="tx1">
                  <a:lumMod val="75000"/>
                  <a:lumOff val="25000"/>
                </a:schemeClr>
              </a:solidFill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58192718-28FB-C627-3550-310A18ADB963}"/>
              </a:ext>
            </a:extLst>
          </p:cNvPr>
          <p:cNvSpPr/>
          <p:nvPr userDrawn="1"/>
        </p:nvSpPr>
        <p:spPr>
          <a:xfrm>
            <a:off x="4881745" y="4620989"/>
            <a:ext cx="6932989" cy="1482275"/>
          </a:xfrm>
          <a:prstGeom prst="rect">
            <a:avLst/>
          </a:prstGeom>
          <a:solidFill>
            <a:schemeClr val="bg1">
              <a:lumMod val="95000"/>
            </a:schemeClr>
          </a:solidFill>
          <a:ln w="762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marL="266700">
              <a:spcAft>
                <a:spcPts val="600"/>
              </a:spcAft>
            </a:pPr>
            <a:r>
              <a:rPr lang="en-GB" sz="1600" b="1">
                <a:solidFill>
                  <a:schemeClr val="tx1">
                    <a:lumMod val="75000"/>
                    <a:lumOff val="25000"/>
                  </a:schemeClr>
                </a:solidFill>
              </a:rPr>
              <a:t>VORGEHEN UND TECHNOLOGIE</a:t>
            </a:r>
          </a:p>
          <a:p>
            <a:endParaRPr lang="en-GB" b="1">
              <a:solidFill>
                <a:srgbClr val="404040"/>
              </a:solidFill>
            </a:endParaRPr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F38E2227-7AE6-2581-785B-FAD319314F7F}"/>
              </a:ext>
            </a:extLst>
          </p:cNvPr>
          <p:cNvSpPr/>
          <p:nvPr userDrawn="1"/>
        </p:nvSpPr>
        <p:spPr>
          <a:xfrm>
            <a:off x="377266" y="4096335"/>
            <a:ext cx="1806016" cy="318924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36000" tIns="36000" rIns="36000" bIns="36000" rtlCol="0" anchor="t">
            <a:spAutoFit/>
          </a:bodyPr>
          <a:lstStyle/>
          <a:p>
            <a:r>
              <a:rPr lang="en-US" sz="1600" b="1">
                <a:solidFill>
                  <a:schemeClr val="tx2"/>
                </a:solidFill>
              </a:rPr>
              <a:t>VALUE ADDED</a:t>
            </a:r>
          </a:p>
        </p:txBody>
      </p:sp>
      <p:pic>
        <p:nvPicPr>
          <p:cNvPr id="30" name="Graphic 29" descr="Diamond with solid fill">
            <a:extLst>
              <a:ext uri="{FF2B5EF4-FFF2-40B4-BE49-F238E27FC236}">
                <a16:creationId xmlns:a16="http://schemas.microsoft.com/office/drawing/2014/main" id="{7605B176-65F9-F618-3E0E-6C5C29E656A0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74650" y="4534394"/>
            <a:ext cx="432000" cy="432000"/>
          </a:xfrm>
          <a:prstGeom prst="rect">
            <a:avLst/>
          </a:prstGeom>
        </p:spPr>
      </p:pic>
      <p:pic>
        <p:nvPicPr>
          <p:cNvPr id="33" name="Graphic 32" descr="Coins with solid fill">
            <a:extLst>
              <a:ext uri="{FF2B5EF4-FFF2-40B4-BE49-F238E27FC236}">
                <a16:creationId xmlns:a16="http://schemas.microsoft.com/office/drawing/2014/main" id="{1FDF7E21-7188-0798-0A63-A5998E145E1D}"/>
              </a:ext>
            </a:extLst>
          </p:cNvPr>
          <p:cNvPicPr>
            <a:picLocks noChangeAspect="1"/>
          </p:cNvPicPr>
          <p:nvPr userDrawn="1"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>
          <a:xfrm>
            <a:off x="374650" y="5081241"/>
            <a:ext cx="432000" cy="432000"/>
          </a:xfrm>
          <a:prstGeom prst="rect">
            <a:avLst/>
          </a:prstGeom>
        </p:spPr>
      </p:pic>
      <p:pic>
        <p:nvPicPr>
          <p:cNvPr id="34" name="Graphic 33" descr="Bar graph with upward trend with solid fill">
            <a:extLst>
              <a:ext uri="{FF2B5EF4-FFF2-40B4-BE49-F238E27FC236}">
                <a16:creationId xmlns:a16="http://schemas.microsoft.com/office/drawing/2014/main" id="{6979B3F5-B563-D7BC-AC40-C193E142176D}"/>
              </a:ext>
            </a:extLst>
          </p:cNvPr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374650" y="5628088"/>
            <a:ext cx="432000" cy="432000"/>
          </a:xfrm>
          <a:prstGeom prst="rect">
            <a:avLst/>
          </a:prstGeom>
        </p:spPr>
      </p:pic>
      <p:pic>
        <p:nvPicPr>
          <p:cNvPr id="37" name="Graphic 36" descr="Magnifying glass with solid fill">
            <a:extLst>
              <a:ext uri="{FF2B5EF4-FFF2-40B4-BE49-F238E27FC236}">
                <a16:creationId xmlns:a16="http://schemas.microsoft.com/office/drawing/2014/main" id="{8651CD68-DF00-D564-CE75-1C83E56B929F}"/>
              </a:ext>
            </a:extLst>
          </p:cNvPr>
          <p:cNvPicPr>
            <a:picLocks noChangeAspect="1"/>
          </p:cNvPicPr>
          <p:nvPr userDrawn="1"/>
        </p:nvPicPr>
        <p:blipFill>
          <a:blip r:embed="rId10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/>
        </p:blipFill>
        <p:spPr>
          <a:xfrm>
            <a:off x="4920057" y="1540364"/>
            <a:ext cx="252000" cy="252000"/>
          </a:xfrm>
          <a:prstGeom prst="rect">
            <a:avLst/>
          </a:prstGeom>
        </p:spPr>
      </p:pic>
      <p:pic>
        <p:nvPicPr>
          <p:cNvPr id="38" name="Graphic 37" descr="Hurdle with solid fill">
            <a:extLst>
              <a:ext uri="{FF2B5EF4-FFF2-40B4-BE49-F238E27FC236}">
                <a16:creationId xmlns:a16="http://schemas.microsoft.com/office/drawing/2014/main" id="{F9E37177-ADA1-5733-4DB1-13A374508B70}"/>
              </a:ext>
            </a:extLst>
          </p:cNvPr>
          <p:cNvPicPr>
            <a:picLocks noChangeAspect="1"/>
          </p:cNvPicPr>
          <p:nvPr userDrawn="1"/>
        </p:nvPicPr>
        <p:blipFill>
          <a:blip r:embed="rId1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3"/>
              </a:ext>
            </a:extLst>
          </a:blip>
          <a:srcRect/>
          <a:stretch/>
        </p:blipFill>
        <p:spPr>
          <a:xfrm>
            <a:off x="4917459" y="3103501"/>
            <a:ext cx="252000" cy="252000"/>
          </a:xfrm>
          <a:prstGeom prst="rect">
            <a:avLst/>
          </a:prstGeom>
        </p:spPr>
      </p:pic>
      <p:pic>
        <p:nvPicPr>
          <p:cNvPr id="39" name="Graphic 38" descr="Route (Two Pins With A Path) with solid fill">
            <a:extLst>
              <a:ext uri="{FF2B5EF4-FFF2-40B4-BE49-F238E27FC236}">
                <a16:creationId xmlns:a16="http://schemas.microsoft.com/office/drawing/2014/main" id="{11396133-F6B6-C350-1831-4ECFC72B5C9D}"/>
              </a:ext>
            </a:extLst>
          </p:cNvPr>
          <p:cNvPicPr>
            <a:picLocks noChangeAspect="1"/>
          </p:cNvPicPr>
          <p:nvPr userDrawn="1"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15"/>
              </a:ext>
            </a:extLst>
          </a:blip>
          <a:srcRect/>
          <a:stretch/>
        </p:blipFill>
        <p:spPr>
          <a:xfrm>
            <a:off x="4917459" y="4677712"/>
            <a:ext cx="252000" cy="252000"/>
          </a:xfrm>
          <a:prstGeom prst="rect">
            <a:avLst/>
          </a:prstGeom>
        </p:spPr>
      </p:pic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7606A10-8F0C-4B96-8F0F-38986ED53B7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57027866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6" imgW="415" imgH="416" progId="TCLayout.ActiveDocument.1">
                  <p:embed/>
                </p:oleObj>
              </mc:Choice>
              <mc:Fallback>
                <p:oleObj name="think-cell Slide" r:id="rId16" imgW="415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7606A10-8F0C-4B96-8F0F-38986ED53B7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7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D7A1DBF-AD07-4E04-96CF-3D1597768597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horz" wrap="none" lIns="0" tIns="0" rIns="0" bIns="0" numCol="1" spcCol="0" rtlCol="0" anchor="ctr" anchorCtr="0">
            <a:noAutofit/>
          </a:bodyPr>
          <a:lstStyle/>
          <a:p>
            <a:pPr marL="0" lvl="0" indent="0" algn="ctr" eaLnBrk="1">
              <a:lnSpc>
                <a:spcPct val="90000"/>
              </a:lnSpc>
              <a:spcBef>
                <a:spcPct val="0"/>
              </a:spcBef>
              <a:spcAft>
                <a:spcPct val="0"/>
              </a:spcAft>
            </a:pPr>
            <a:endParaRPr lang="it-IT" sz="1600" b="1" i="0" baseline="0">
              <a:latin typeface="Arial Black" panose="020B0A04020102020204" pitchFamily="34" charset="0"/>
              <a:ea typeface="+mj-ea"/>
              <a:cs typeface="+mj-cs"/>
              <a:sym typeface="Arial Black" panose="020B0A04020102020204" pitchFamily="34" charset="0"/>
            </a:endParaRPr>
          </a:p>
        </p:txBody>
      </p:sp>
      <p:sp>
        <p:nvSpPr>
          <p:cNvPr id="26" name="Title Placeholder 54">
            <a:extLst>
              <a:ext uri="{FF2B5EF4-FFF2-40B4-BE49-F238E27FC236}">
                <a16:creationId xmlns:a16="http://schemas.microsoft.com/office/drawing/2014/main" id="{5887A63D-817F-4DC7-8CDA-56F79EC08456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 bwMode="gray">
          <a:xfrm>
            <a:off x="365681" y="397932"/>
            <a:ext cx="11448000" cy="79580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 algn="l">
              <a:defRPr sz="2800">
                <a:solidFill>
                  <a:srgbClr val="000000"/>
                </a:solidFill>
              </a:defRPr>
            </a:lvl1pPr>
          </a:lstStyle>
          <a:p>
            <a:pPr lvl="0"/>
            <a:r>
              <a:rPr lang="en-US" noProof="0" err="1"/>
              <a:t>Actiontitle</a:t>
            </a:r>
            <a:endParaRPr lang="en-US" noProof="0"/>
          </a:p>
        </p:txBody>
      </p:sp>
      <p:sp>
        <p:nvSpPr>
          <p:cNvPr id="40" name="Text Placeholder 9">
            <a:extLst>
              <a:ext uri="{FF2B5EF4-FFF2-40B4-BE49-F238E27FC236}">
                <a16:creationId xmlns:a16="http://schemas.microsoft.com/office/drawing/2014/main" id="{C02F74DA-7E83-4606-87CC-5EB5C7F1334F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65682" y="90049"/>
            <a:ext cx="11448000" cy="201600"/>
          </a:xfrm>
          <a:prstGeom prst="rect">
            <a:avLst/>
          </a:prstGeom>
        </p:spPr>
        <p:txBody>
          <a:bodyPr lIns="0" tIns="0" rIns="0" bIns="0"/>
          <a:lstStyle>
            <a:lvl1pPr>
              <a:defRPr sz="1600" b="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1pPr>
            <a:lvl2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2pPr>
            <a:lvl3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3pPr>
            <a:lvl4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4pPr>
            <a:lvl5pPr>
              <a:defRPr sz="1200" u="none">
                <a:solidFill>
                  <a:schemeClr val="bg1">
                    <a:lumMod val="50000"/>
                  </a:schemeClr>
                </a:solidFill>
                <a:latin typeface="+mj-lt"/>
              </a:defRPr>
            </a:lvl5pPr>
          </a:lstStyle>
          <a:p>
            <a:pPr lvl="0"/>
            <a:r>
              <a:rPr lang="en-US"/>
              <a:t>Chapter name</a:t>
            </a:r>
          </a:p>
        </p:txBody>
      </p:sp>
      <p:sp>
        <p:nvSpPr>
          <p:cNvPr id="44" name="Inhaltsplatzhalter 35">
            <a:extLst>
              <a:ext uri="{FF2B5EF4-FFF2-40B4-BE49-F238E27FC236}">
                <a16:creationId xmlns:a16="http://schemas.microsoft.com/office/drawing/2014/main" id="{5390D463-F6CC-43D7-81F0-CC42BBE0C8E0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365682" y="6356352"/>
            <a:ext cx="5730318" cy="22180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2"/>
                </a:solidFill>
              </a14:hiddenFill>
            </a:ext>
            <a:ext uri="{91240B29-F687-4F45-9708-019B960494DF}">
              <a14:hiddenLine xmlns:a14="http://schemas.microsoft.com/office/drawing/2010/main" w="9525" algn="ctr">
                <a:solidFill>
                  <a:srgbClr val="64B987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36000" rIns="54000" bIns="36000" anchor="b" anchorCtr="0"/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  <a:defRPr lang="de-DE" sz="1200" b="0" i="0" u="none" kern="1200" dirty="0" smtClean="0">
                <a:solidFill>
                  <a:schemeClr val="bg1">
                    <a:lumMod val="50000"/>
                  </a:schemeClr>
                </a:solidFill>
                <a:latin typeface="+mn-lt"/>
                <a:ea typeface="+mn-ea"/>
                <a:cs typeface="+mn-cs"/>
              </a:defRPr>
            </a:lvl1pPr>
            <a:lvl2pPr>
              <a:defRPr lang="de-DE" dirty="0" smtClean="0"/>
            </a:lvl2pPr>
            <a:lvl3pPr>
              <a:defRPr lang="de-DE" dirty="0" smtClean="0"/>
            </a:lvl3pPr>
            <a:lvl4pPr>
              <a:defRPr lang="de-DE" dirty="0" smtClean="0"/>
            </a:lvl4pPr>
            <a:lvl5pPr>
              <a:defRPr lang="de-DE" dirty="0"/>
            </a:lvl5pPr>
          </a:lstStyle>
          <a:p>
            <a:pPr marL="0" lvl="0" indent="0" algn="l" defTabSz="914400" rtl="0" eaLnBrk="1" latinLnBrk="0" hangingPunct="1">
              <a:lnSpc>
                <a:spcPct val="90000"/>
              </a:lnSpc>
              <a:spcBef>
                <a:spcPct val="0"/>
              </a:spcBef>
              <a:buFontTx/>
              <a:buNone/>
            </a:pPr>
            <a:r>
              <a:rPr lang="en-US"/>
              <a:t>Machine Learning Reply | Client | Date</a:t>
            </a:r>
          </a:p>
        </p:txBody>
      </p:sp>
      <p:pic>
        <p:nvPicPr>
          <p:cNvPr id="4" name="Bild 5">
            <a:extLst>
              <a:ext uri="{FF2B5EF4-FFF2-40B4-BE49-F238E27FC236}">
                <a16:creationId xmlns:a16="http://schemas.microsoft.com/office/drawing/2014/main" id="{A1699198-B406-03A5-DD0C-0CBF8ED248D2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27077" y="6410491"/>
            <a:ext cx="290043" cy="290043"/>
          </a:xfrm>
          <a:prstGeom prst="rect">
            <a:avLst/>
          </a:prstGeom>
        </p:spPr>
      </p:pic>
      <p:sp>
        <p:nvSpPr>
          <p:cNvPr id="6" name="Rectangle 6">
            <a:extLst>
              <a:ext uri="{FF2B5EF4-FFF2-40B4-BE49-F238E27FC236}">
                <a16:creationId xmlns:a16="http://schemas.microsoft.com/office/drawing/2014/main" id="{A275C3A2-3D33-2851-B1BA-3D9AEA165BC2}"/>
              </a:ext>
            </a:extLst>
          </p:cNvPr>
          <p:cNvSpPr/>
          <p:nvPr userDrawn="1"/>
        </p:nvSpPr>
        <p:spPr>
          <a:xfrm>
            <a:off x="857416" y="1540364"/>
            <a:ext cx="3043704" cy="2032126"/>
          </a:xfrm>
          <a:prstGeom prst="rect">
            <a:avLst/>
          </a:prstGeom>
          <a:solidFill>
            <a:schemeClr val="bg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0" name="Textplatzhalter 16">
            <a:extLst>
              <a:ext uri="{FF2B5EF4-FFF2-40B4-BE49-F238E27FC236}">
                <a16:creationId xmlns:a16="http://schemas.microsoft.com/office/drawing/2014/main" id="{68774ED4-0D01-C3F6-DC5F-05954AC68529}"/>
              </a:ext>
            </a:extLst>
          </p:cNvPr>
          <p:cNvSpPr>
            <a:spLocks noGrp="1"/>
          </p:cNvSpPr>
          <p:nvPr>
            <p:ph type="body" sz="quarter" idx="18" hasCustomPrompt="1"/>
          </p:nvPr>
        </p:nvSpPr>
        <p:spPr>
          <a:xfrm>
            <a:off x="5049519" y="1879095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</a:t>
            </a:r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  <a:p>
            <a:pPr lvl="0"/>
            <a:endParaRPr lang="de-DE"/>
          </a:p>
        </p:txBody>
      </p:sp>
      <p:sp>
        <p:nvSpPr>
          <p:cNvPr id="21" name="Textplatzhalter 16">
            <a:extLst>
              <a:ext uri="{FF2B5EF4-FFF2-40B4-BE49-F238E27FC236}">
                <a16:creationId xmlns:a16="http://schemas.microsoft.com/office/drawing/2014/main" id="{FF734395-1D4D-2B73-6DFC-CC18574833A0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5049519" y="5017986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sp>
        <p:nvSpPr>
          <p:cNvPr id="24" name="Textplatzhalter 16">
            <a:extLst>
              <a:ext uri="{FF2B5EF4-FFF2-40B4-BE49-F238E27FC236}">
                <a16:creationId xmlns:a16="http://schemas.microsoft.com/office/drawing/2014/main" id="{DB7E23ED-611C-7315-68BC-2515C0B7D338}"/>
              </a:ext>
            </a:extLst>
          </p:cNvPr>
          <p:cNvSpPr>
            <a:spLocks noGrp="1"/>
          </p:cNvSpPr>
          <p:nvPr>
            <p:ph type="body" sz="quarter" idx="20" hasCustomPrompt="1"/>
          </p:nvPr>
        </p:nvSpPr>
        <p:spPr>
          <a:xfrm>
            <a:off x="5049519" y="3446937"/>
            <a:ext cx="6764161" cy="1012110"/>
          </a:xfrm>
        </p:spPr>
        <p:txBody>
          <a:bodyPr lIns="0" rIns="90000"/>
          <a:lstStyle>
            <a:lvl1pPr marL="171450" indent="-171450">
              <a:spcBef>
                <a:spcPts val="0"/>
              </a:spcBef>
              <a:buFont typeface="Wingdings" pitchFamily="2" charset="2"/>
              <a:buChar char="§"/>
              <a:defRPr sz="1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>
            <a:pPr lvl="0"/>
            <a:r>
              <a:rPr lang="de-DE"/>
              <a:t>Text Input </a:t>
            </a:r>
          </a:p>
        </p:txBody>
      </p:sp>
      <p:sp>
        <p:nvSpPr>
          <p:cNvPr id="5" name="Textplatzhalter 16">
            <a:extLst>
              <a:ext uri="{FF2B5EF4-FFF2-40B4-BE49-F238E27FC236}">
                <a16:creationId xmlns:a16="http://schemas.microsoft.com/office/drawing/2014/main" id="{7CAB6B36-6B96-7000-B9E6-512DC10F400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991302" y="4534394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1.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7" name="Textplatzhalter 16">
            <a:extLst>
              <a:ext uri="{FF2B5EF4-FFF2-40B4-BE49-F238E27FC236}">
                <a16:creationId xmlns:a16="http://schemas.microsoft.com/office/drawing/2014/main" id="{776802C2-0BC0-2C27-4C19-419BDF82325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91302" y="5628088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3. </a:t>
            </a:r>
            <a:r>
              <a:rPr lang="de-DE" err="1"/>
              <a:t>Added</a:t>
            </a:r>
            <a:r>
              <a:rPr lang="de-DE"/>
              <a:t> Value </a:t>
            </a:r>
          </a:p>
        </p:txBody>
      </p:sp>
      <p:sp>
        <p:nvSpPr>
          <p:cNvPr id="8" name="Textplatzhalter 16">
            <a:extLst>
              <a:ext uri="{FF2B5EF4-FFF2-40B4-BE49-F238E27FC236}">
                <a16:creationId xmlns:a16="http://schemas.microsoft.com/office/drawing/2014/main" id="{19A9E047-1DBF-124A-8288-A6E263D832F4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91302" y="5081241"/>
            <a:ext cx="3517200" cy="442800"/>
          </a:xfrm>
        </p:spPr>
        <p:txBody>
          <a:bodyPr lIns="36000" rIns="36000"/>
          <a:lstStyle>
            <a:lvl1pPr>
              <a:defRPr sz="1200">
                <a:solidFill>
                  <a:schemeClr val="tx2"/>
                </a:solidFill>
              </a:defRPr>
            </a:lvl1pPr>
          </a:lstStyle>
          <a:p>
            <a:pPr lvl="0"/>
            <a:r>
              <a:rPr lang="de-DE"/>
              <a:t>2. </a:t>
            </a:r>
            <a:r>
              <a:rPr lang="de-DE" err="1"/>
              <a:t>Added</a:t>
            </a:r>
            <a:r>
              <a:rPr lang="de-DE"/>
              <a:t> Value</a:t>
            </a:r>
          </a:p>
        </p:txBody>
      </p:sp>
      <p:sp>
        <p:nvSpPr>
          <p:cNvPr id="9" name="Segnaposto numero diapositiva 5">
            <a:extLst>
              <a:ext uri="{FF2B5EF4-FFF2-40B4-BE49-F238E27FC236}">
                <a16:creationId xmlns:a16="http://schemas.microsoft.com/office/drawing/2014/main" id="{812484E3-63A9-6945-C7FB-BD1E4F899FEB}"/>
              </a:ext>
            </a:extLst>
          </p:cNvPr>
          <p:cNvSpPr txBox="1">
            <a:spLocks/>
          </p:cNvSpPr>
          <p:nvPr userDrawn="1"/>
        </p:nvSpPr>
        <p:spPr>
          <a:xfrm>
            <a:off x="9083117" y="6356353"/>
            <a:ext cx="2327833" cy="2218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it-IT"/>
            </a:defPPr>
            <a:lvl1pPr marL="0" algn="r" defTabSz="609585" rtl="0" eaLnBrk="1" latinLnBrk="0" hangingPunct="1">
              <a:defRPr sz="1200" kern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09585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219170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82875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43833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3047924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3657509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4267093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4876678" algn="l" defTabSz="609585" rtl="0" eaLnBrk="1" latinLnBrk="0" hangingPunct="1"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3D966009-6E5A-4F8C-8CA7-E37AFBF5FB92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10" name="Picture 9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113170FC-80E8-485B-38B3-38271300AA6B}"/>
              </a:ext>
            </a:extLst>
          </p:cNvPr>
          <p:cNvPicPr>
            <a:picLocks noChangeAspect="1"/>
          </p:cNvPicPr>
          <p:nvPr userDrawn="1"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9"/>
            <a:ext cx="4013507" cy="242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7049233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ags" Target="../tags/tag2.xml"/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.emf"/><Relationship Id="rId4" Type="http://schemas.openxmlformats.org/officeDocument/2006/relationships/oleObject" Target="../embeddings/oleObject1.bin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" name="Objekt 4" hidden="1">
            <a:extLst>
              <a:ext uri="{FF2B5EF4-FFF2-40B4-BE49-F238E27FC236}">
                <a16:creationId xmlns:a16="http://schemas.microsoft.com/office/drawing/2014/main" id="{DD7524CE-3AE0-6542-AC7B-2351B4E0667A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2846120685"/>
              </p:ext>
            </p:extLst>
          </p:nvPr>
        </p:nvGraphicFramePr>
        <p:xfrm>
          <a:off x="2118" y="2118"/>
          <a:ext cx="1636" cy="211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Folie" r:id="rId4" imgW="7772400" imgH="10058400" progId="TCLayout.ActiveDocument.1">
                  <p:embed/>
                </p:oleObj>
              </mc:Choice>
              <mc:Fallback>
                <p:oleObj name="think-cell Folie" r:id="rId4" imgW="7772400" imgH="10058400" progId="TCLayout.ActiveDocument.1">
                  <p:embed/>
                  <p:pic>
                    <p:nvPicPr>
                      <p:cNvPr id="5" name="Objekt 4" hidden="1">
                        <a:extLst>
                          <a:ext uri="{FF2B5EF4-FFF2-40B4-BE49-F238E27FC236}">
                            <a16:creationId xmlns:a16="http://schemas.microsoft.com/office/drawing/2014/main" id="{DD7524CE-3AE0-6542-AC7B-2351B4E0667A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2118" y="2118"/>
                        <a:ext cx="1636" cy="211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09600" y="274639"/>
            <a:ext cx="10972800" cy="1143000"/>
          </a:xfrm>
          <a:prstGeom prst="rect">
            <a:avLst/>
          </a:prstGeom>
          <a:noFill/>
        </p:spPr>
        <p:txBody>
          <a:bodyPr vert="horz" lIns="0" tIns="45720" rIns="91440" bIns="0" rtlCol="0" anchor="t">
            <a:noAutofit/>
          </a:bodyPr>
          <a:lstStyle/>
          <a:p>
            <a:r>
              <a:rPr lang="it-IT"/>
              <a:t>Click to </a:t>
            </a:r>
            <a:r>
              <a:rPr lang="it-IT" err="1"/>
              <a:t>change</a:t>
            </a:r>
            <a:r>
              <a:rPr lang="it-IT"/>
              <a:t>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435709"/>
            <a:ext cx="10972800" cy="452596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it-IT"/>
              <a:t>Basic text</a:t>
            </a:r>
          </a:p>
          <a:p>
            <a:pPr lvl="1"/>
            <a:r>
              <a:rPr lang="it-IT"/>
              <a:t>Text in CAPITAL </a:t>
            </a:r>
            <a:r>
              <a:rPr lang="it-IT" err="1"/>
              <a:t>LeTTERS</a:t>
            </a:r>
            <a:endParaRPr lang="it-IT"/>
          </a:p>
          <a:p>
            <a:pPr lvl="3"/>
            <a:r>
              <a:rPr lang="it-IT"/>
              <a:t>First bullet point text</a:t>
            </a:r>
          </a:p>
          <a:p>
            <a:pPr lvl="4"/>
            <a:r>
              <a:rPr lang="it-IT"/>
              <a:t>Second bullet point text</a:t>
            </a:r>
          </a:p>
          <a:p>
            <a:pPr lvl="5"/>
            <a:r>
              <a:rPr lang="it-IT"/>
              <a:t>Third bullet point text</a:t>
            </a:r>
          </a:p>
          <a:p>
            <a:pPr lvl="0"/>
            <a:endParaRPr lang="it-IT"/>
          </a:p>
        </p:txBody>
      </p:sp>
    </p:spTree>
    <p:extLst>
      <p:ext uri="{BB962C8B-B14F-4D97-AF65-F5344CB8AC3E}">
        <p14:creationId xmlns:p14="http://schemas.microsoft.com/office/powerpoint/2010/main" val="2825637913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80" r:id="rId1"/>
  </p:sldLayoutIdLst>
  <p:hf sldNum="0" hdr="0" ftr="0" dt="0"/>
  <p:txStyles>
    <p:titleStyle>
      <a:lvl1pPr algn="l" defTabSz="1219170" rtl="0" eaLnBrk="1" latinLnBrk="0" hangingPunct="1">
        <a:lnSpc>
          <a:spcPct val="80000"/>
        </a:lnSpc>
        <a:spcBef>
          <a:spcPct val="0"/>
        </a:spcBef>
        <a:buNone/>
        <a:defRPr sz="4267" kern="1200">
          <a:solidFill>
            <a:schemeClr val="tx1"/>
          </a:solidFill>
          <a:latin typeface="Arial Black" panose="020B0A04020102020204" pitchFamily="34" charset="0"/>
          <a:ea typeface="+mj-ea"/>
          <a:cs typeface="Arial Black" panose="020B0A04020102020204" pitchFamily="34" charset="0"/>
        </a:defRPr>
      </a:lvl1pPr>
    </p:titleStyle>
    <p:bodyStyle>
      <a:lvl1pPr marL="0" indent="0" algn="l" defTabSz="1219170" rtl="0" eaLnBrk="1" latinLnBrk="0" hangingPunct="1">
        <a:lnSpc>
          <a:spcPct val="100000"/>
        </a:lnSpc>
        <a:spcBef>
          <a:spcPts val="800"/>
        </a:spcBef>
        <a:buFont typeface="Arial" pitchFamily="34" charset="0"/>
        <a:buNone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1219170" rtl="0" eaLnBrk="1" latinLnBrk="0" hangingPunct="1">
        <a:lnSpc>
          <a:spcPct val="100000"/>
        </a:lnSpc>
        <a:spcBef>
          <a:spcPts val="1600"/>
        </a:spcBef>
        <a:spcAft>
          <a:spcPts val="800"/>
        </a:spcAft>
        <a:buFont typeface="Arial" pitchFamily="34" charset="0"/>
        <a:buNone/>
        <a:defRPr sz="2400" b="0" i="0" kern="1200" cap="all">
          <a:solidFill>
            <a:schemeClr val="tx1"/>
          </a:solidFill>
          <a:latin typeface="Arial"/>
          <a:ea typeface="+mn-ea"/>
          <a:cs typeface="Arial"/>
        </a:defRPr>
      </a:lvl2pPr>
      <a:lvl3pPr marL="0" indent="0" algn="l" defTabSz="1219170" rtl="0" eaLnBrk="1" latinLnBrk="0" hangingPunct="1">
        <a:lnSpc>
          <a:spcPct val="120000"/>
        </a:lnSpc>
        <a:spcBef>
          <a:spcPts val="800"/>
        </a:spcBef>
        <a:buFont typeface="Arial" pitchFamily="34" charset="0"/>
        <a:buNone/>
        <a:defRPr sz="1867" b="0" i="0" kern="1200">
          <a:solidFill>
            <a:schemeClr val="tx2"/>
          </a:solidFill>
          <a:latin typeface="Arial"/>
          <a:ea typeface="+mn-ea"/>
          <a:cs typeface="Arial"/>
        </a:defRPr>
      </a:lvl3pPr>
      <a:lvl4pPr marL="239994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130000"/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479988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Char char="§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479988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Wingdings" panose="05000000000000000000" pitchFamily="2" charset="2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0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SzPct val="59000"/>
        <a:buFont typeface="+mj-lt"/>
        <a:buNone/>
        <a:defRPr lang="it-IT" sz="2400" kern="1200" baseline="0" dirty="0" smtClean="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7pPr>
      <a:lvl8pPr marL="239994" indent="0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None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719982" indent="-239994" algn="l" defTabSz="1219170" rtl="0" eaLnBrk="1" latinLnBrk="0" hangingPunct="1">
        <a:lnSpc>
          <a:spcPct val="120000"/>
        </a:lnSpc>
        <a:spcBef>
          <a:spcPts val="800"/>
        </a:spcBef>
        <a:buClr>
          <a:schemeClr val="tx1"/>
        </a:buClr>
        <a:buFont typeface="+mj-lt"/>
        <a:buAutoNum type="arabicPeriod"/>
        <a:defRPr sz="2400" kern="1200" baseline="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pos="234">
          <p15:clr>
            <a:srgbClr val="F26B43"/>
          </p15:clr>
        </p15:guide>
        <p15:guide id="2" pos="7446">
          <p15:clr>
            <a:srgbClr val="F26B43"/>
          </p15:clr>
        </p15:guide>
        <p15:guide id="3" orient="horz" pos="799">
          <p15:clr>
            <a:srgbClr val="F26B43"/>
          </p15:clr>
        </p15:guide>
        <p15:guide id="4" orient="horz" pos="3974">
          <p15:clr>
            <a:srgbClr val="F26B43"/>
          </p15:clr>
        </p15:guide>
        <p15:guide id="6" orient="horz" pos="2387">
          <p15:clr>
            <a:srgbClr val="F26B43"/>
          </p15:clr>
        </p15:guide>
        <p15:guide id="7" pos="3840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rojectTitle">
            <a:extLst>
              <a:ext uri="{FF2B5EF4-FFF2-40B4-BE49-F238E27FC236}">
                <a16:creationId xmlns:a16="http://schemas.microsoft.com/office/drawing/2014/main" id="{0DBEEFFB-8775-B468-9517-DC9F54D560B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Kundensegmentierung ist die Basis für Use Cases, die den Entscheidungsprozess der Kunden positiv unterstützen</a:t>
            </a:r>
          </a:p>
        </p:txBody>
      </p:sp>
      <p:sp>
        <p:nvSpPr>
          <p:cNvPr id="3" name="ProjectID">
            <a:extLst>
              <a:ext uri="{FF2B5EF4-FFF2-40B4-BE49-F238E27FC236}">
                <a16:creationId xmlns:a16="http://schemas.microsoft.com/office/drawing/2014/main" id="{416DD139-E476-94F6-48E1-96B1A8F5EF6A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kumimoji="0" lang="de-DE" sz="16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ID0002 </a:t>
            </a:r>
            <a:r>
              <a:rPr kumimoji="0" lang="de-DE" sz="15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– </a:t>
            </a:r>
            <a:r>
              <a:rPr kumimoji="0" lang="de-DE" sz="1600" b="0" i="0" u="none" strike="noStrike" kern="1200" cap="none" spc="0" normalizeH="0" baseline="0">
                <a:ln>
                  <a:noFill/>
                </a:ln>
                <a:solidFill>
                  <a:srgbClr val="FFFFFF">
                    <a:lumMod val="50000"/>
                  </a:srgbClr>
                </a:solidFill>
                <a:effectLst/>
                <a:uLnTx/>
                <a:uFillTx/>
                <a:latin typeface="Arial"/>
                <a:cs typeface="Arial"/>
              </a:rPr>
              <a:t>Referenzen</a:t>
            </a:r>
            <a:endParaRPr kumimoji="0" lang="de-DE" sz="1600" b="0" i="0" u="none" strike="noStrike" kern="1200" cap="none" spc="0" normalizeH="0" baseline="0">
              <a:ln>
                <a:noFill/>
              </a:ln>
              <a:solidFill>
                <a:srgbClr val="FFFFFF">
                  <a:lumMod val="50000"/>
                </a:srgbClr>
              </a:solidFill>
              <a:effectLst/>
              <a:uLnTx/>
              <a:uFillTx/>
              <a:latin typeface="Arial"/>
            </a:endParaRP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D688AC74-7955-D276-66CA-37A9367A472F}"/>
              </a:ext>
            </a:extLst>
          </p:cNvPr>
          <p:cNvSpPr>
            <a:spLocks noGrp="1"/>
          </p:cNvSpPr>
          <p:nvPr>
            <p:ph sz="quarter" idx="14"/>
          </p:nvPr>
        </p:nvSpPr>
        <p:spPr/>
        <p:txBody>
          <a:bodyPr/>
          <a:lstStyle/>
          <a:p>
            <a:r>
              <a:rPr lang="de-DE"/>
              <a:t>Reply</a:t>
            </a:r>
          </a:p>
        </p:txBody>
      </p:sp>
      <p:sp>
        <p:nvSpPr>
          <p:cNvPr id="5" name="InitialSituation">
            <a:extLst>
              <a:ext uri="{FF2B5EF4-FFF2-40B4-BE49-F238E27FC236}">
                <a16:creationId xmlns:a16="http://schemas.microsoft.com/office/drawing/2014/main" id="{2CA9BB95-FABC-7A38-D91F-9CCFE6718C5C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r>
              <a:rPr lang="de-DE"/>
              <a:t>Die Interaktionen der Verbraucher wurden nicht vollständig über alle Plattformen hinweg erfasst, wodurch wichtige Datenpunkte in der Customer Journey fehlten</a:t>
            </a:r>
          </a:p>
          <a:p>
            <a:r>
              <a:rPr lang="de-DE"/>
              <a:t>Es bestand die Notwendigkeit, das volle Potenzial der Lifecycle-Daten der Kunden zu nutzen, um Geschäftsstrategien zu entwickeln</a:t>
            </a:r>
          </a:p>
        </p:txBody>
      </p:sp>
      <p:sp>
        <p:nvSpPr>
          <p:cNvPr id="6" name="ApproachTechnologies">
            <a:extLst>
              <a:ext uri="{FF2B5EF4-FFF2-40B4-BE49-F238E27FC236}">
                <a16:creationId xmlns:a16="http://schemas.microsoft.com/office/drawing/2014/main" id="{2159EFE1-92F8-C242-92C7-D64E78AF7653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de-DE" err="1"/>
              <a:t>Predictive</a:t>
            </a:r>
            <a:r>
              <a:rPr lang="de-DE"/>
              <a:t> Analytics wurde eingesetzt, um die Kundensegmentierung zu verfeinern, wobei die Interaktionshäufigkeit, der Geldwert und die Produktkategorien berücksichtigt wurden</a:t>
            </a:r>
          </a:p>
          <a:p>
            <a:r>
              <a:rPr lang="de-DE"/>
              <a:t>Dies ermöglichte eine präzisere Ausrichtung von Marketingkampagnen, was das Engagement der Verbraucher und ihr Kaufverhalten deutlich verbesserte</a:t>
            </a:r>
          </a:p>
        </p:txBody>
      </p:sp>
      <p:sp>
        <p:nvSpPr>
          <p:cNvPr id="7" name="Challenges">
            <a:extLst>
              <a:ext uri="{FF2B5EF4-FFF2-40B4-BE49-F238E27FC236}">
                <a16:creationId xmlns:a16="http://schemas.microsoft.com/office/drawing/2014/main" id="{4C7E68B5-5705-8647-B276-DFD6B7AEADD7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r>
              <a:rPr lang="de-DE"/>
              <a:t>Das Hauptziel bestand darin, hochwertige Kunden zu identifizieren und gezielt anzusprechen, um ihre durchschnittliche Bestellmenge zu erhöhen</a:t>
            </a:r>
          </a:p>
          <a:p>
            <a:r>
              <a:rPr lang="de-DE"/>
              <a:t>Es bestand die Notwendigkeit, die Grenzen der traditionellen Segmentierung zu überwinden, indem ein stärker </a:t>
            </a:r>
            <a:r>
              <a:rPr lang="de-DE" err="1"/>
              <a:t>Predicitve</a:t>
            </a:r>
            <a:r>
              <a:rPr lang="de-DE"/>
              <a:t> Analytics-Ansatz gewählt wurde</a:t>
            </a:r>
          </a:p>
        </p:txBody>
      </p:sp>
      <p:sp>
        <p:nvSpPr>
          <p:cNvPr id="8" name="DiamondText">
            <a:extLst>
              <a:ext uri="{FF2B5EF4-FFF2-40B4-BE49-F238E27FC236}">
                <a16:creationId xmlns:a16="http://schemas.microsoft.com/office/drawing/2014/main" id="{8A7F7B1D-3F29-2C31-0AAC-768FF04FB2E1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de-DE"/>
              <a:t>Verbessertes Management des Kundenlebens-zyklus durch erweiterte Segmentierung</a:t>
            </a:r>
          </a:p>
        </p:txBody>
      </p:sp>
      <p:sp>
        <p:nvSpPr>
          <p:cNvPr id="9" name="GraphText">
            <a:extLst>
              <a:ext uri="{FF2B5EF4-FFF2-40B4-BE49-F238E27FC236}">
                <a16:creationId xmlns:a16="http://schemas.microsoft.com/office/drawing/2014/main" id="{F3C4A19D-55DB-7F34-47E3-9BE3D77D468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r>
              <a:rPr lang="de-DE"/>
              <a:t>Verbesserter ROI für Marketingkampagnen durch datengestützte Erkenntnisse</a:t>
            </a:r>
          </a:p>
        </p:txBody>
      </p:sp>
      <p:sp>
        <p:nvSpPr>
          <p:cNvPr id="10" name="MoneyText">
            <a:extLst>
              <a:ext uri="{FF2B5EF4-FFF2-40B4-BE49-F238E27FC236}">
                <a16:creationId xmlns:a16="http://schemas.microsoft.com/office/drawing/2014/main" id="{7557295F-9EC4-85CD-6ECF-16945A1595BD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de-DE"/>
              <a:t>Identifizierung von Kunden mit hohem Wert, was zu größeren Warenkörben führt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4F3EF3FE-F84A-6EBA-97D3-017FF7786DA4}"/>
              </a:ext>
            </a:extLst>
          </p:cNvPr>
          <p:cNvGrpSpPr/>
          <p:nvPr/>
        </p:nvGrpSpPr>
        <p:grpSpPr>
          <a:xfrm>
            <a:off x="693829" y="2198802"/>
            <a:ext cx="3476940" cy="1012509"/>
            <a:chOff x="6507861" y="2561583"/>
            <a:chExt cx="5162131" cy="123231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E52F8332-1D49-F390-243B-55952CAB015A}"/>
                </a:ext>
              </a:extLst>
            </p:cNvPr>
            <p:cNvGrpSpPr/>
            <p:nvPr/>
          </p:nvGrpSpPr>
          <p:grpSpPr>
            <a:xfrm>
              <a:off x="6846863" y="2831951"/>
              <a:ext cx="4823129" cy="885655"/>
              <a:chOff x="6846863" y="2831951"/>
              <a:chExt cx="4823129" cy="885655"/>
            </a:xfrm>
          </p:grpSpPr>
          <p:grpSp>
            <p:nvGrpSpPr>
              <p:cNvPr id="14" name="Group 66">
                <a:extLst>
                  <a:ext uri="{FF2B5EF4-FFF2-40B4-BE49-F238E27FC236}">
                    <a16:creationId xmlns:a16="http://schemas.microsoft.com/office/drawing/2014/main" id="{81E04A1A-59EC-2123-9747-1FA63B2753F5}"/>
                  </a:ext>
                </a:extLst>
              </p:cNvPr>
              <p:cNvGrpSpPr>
                <a:grpSpLocks noChangeAspect="1"/>
              </p:cNvGrpSpPr>
              <p:nvPr/>
            </p:nvGrpSpPr>
            <p:grpSpPr>
              <a:xfrm>
                <a:off x="6846863" y="2831951"/>
                <a:ext cx="4333592" cy="729400"/>
                <a:chOff x="6262914" y="2951964"/>
                <a:chExt cx="3860801" cy="629669"/>
              </a:xfrm>
              <a:solidFill>
                <a:schemeClr val="tx2">
                  <a:lumMod val="20000"/>
                  <a:lumOff val="80000"/>
                </a:schemeClr>
              </a:solidFill>
            </p:grpSpPr>
            <p:grpSp>
              <p:nvGrpSpPr>
                <p:cNvPr id="16" name="Group 71">
                  <a:extLst>
                    <a:ext uri="{FF2B5EF4-FFF2-40B4-BE49-F238E27FC236}">
                      <a16:creationId xmlns:a16="http://schemas.microsoft.com/office/drawing/2014/main" id="{7FCD2BC0-4ADB-4AB3-FC3B-49E481FB137D}"/>
                    </a:ext>
                  </a:extLst>
                </p:cNvPr>
                <p:cNvGrpSpPr/>
                <p:nvPr/>
              </p:nvGrpSpPr>
              <p:grpSpPr>
                <a:xfrm>
                  <a:off x="6262914" y="3429000"/>
                  <a:ext cx="3860801" cy="152633"/>
                  <a:chOff x="6262914" y="3429000"/>
                  <a:chExt cx="3860801" cy="152633"/>
                </a:xfrm>
                <a:grpFill/>
              </p:grpSpPr>
              <p:sp>
                <p:nvSpPr>
                  <p:cNvPr id="32" name="Rectangle 93">
                    <a:extLst>
                      <a:ext uri="{FF2B5EF4-FFF2-40B4-BE49-F238E27FC236}">
                        <a16:creationId xmlns:a16="http://schemas.microsoft.com/office/drawing/2014/main" id="{9B0F7603-3825-A416-6227-2451B821C226}"/>
                      </a:ext>
                    </a:extLst>
                  </p:cNvPr>
                  <p:cNvSpPr/>
                  <p:nvPr/>
                </p:nvSpPr>
                <p:spPr>
                  <a:xfrm>
                    <a:off x="6262914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Awareness</a:t>
                    </a:r>
                  </a:p>
                </p:txBody>
              </p:sp>
              <p:sp>
                <p:nvSpPr>
                  <p:cNvPr id="33" name="Rectangle 94">
                    <a:extLst>
                      <a:ext uri="{FF2B5EF4-FFF2-40B4-BE49-F238E27FC236}">
                        <a16:creationId xmlns:a16="http://schemas.microsoft.com/office/drawing/2014/main" id="{6519CDBD-1FF0-8AC8-4FA7-1414099360F8}"/>
                      </a:ext>
                    </a:extLst>
                  </p:cNvPr>
                  <p:cNvSpPr/>
                  <p:nvPr/>
                </p:nvSpPr>
                <p:spPr>
                  <a:xfrm>
                    <a:off x="6746032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Education</a:t>
                    </a:r>
                  </a:p>
                </p:txBody>
              </p:sp>
              <p:sp>
                <p:nvSpPr>
                  <p:cNvPr id="34" name="Rectangle 95">
                    <a:extLst>
                      <a:ext uri="{FF2B5EF4-FFF2-40B4-BE49-F238E27FC236}">
                        <a16:creationId xmlns:a16="http://schemas.microsoft.com/office/drawing/2014/main" id="{4ED592FE-DC89-CDCA-3E0F-89796EA8CE0F}"/>
                      </a:ext>
                    </a:extLst>
                  </p:cNvPr>
                  <p:cNvSpPr/>
                  <p:nvPr/>
                </p:nvSpPr>
                <p:spPr>
                  <a:xfrm>
                    <a:off x="7229150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lIns="36000"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 err="1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Consideration</a:t>
                    </a:r>
                    <a:endParaRPr kumimoji="0" lang="de-DE" sz="4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5" name="Rectangle 96">
                    <a:extLst>
                      <a:ext uri="{FF2B5EF4-FFF2-40B4-BE49-F238E27FC236}">
                        <a16:creationId xmlns:a16="http://schemas.microsoft.com/office/drawing/2014/main" id="{E2604AC3-F7B4-39FA-3B19-35DCAC58DE48}"/>
                      </a:ext>
                    </a:extLst>
                  </p:cNvPr>
                  <p:cNvSpPr/>
                  <p:nvPr/>
                </p:nvSpPr>
                <p:spPr>
                  <a:xfrm>
                    <a:off x="7712268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 err="1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Purchase</a:t>
                    </a:r>
                    <a:endParaRPr kumimoji="0" lang="de-DE" sz="4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  <p:sp>
                <p:nvSpPr>
                  <p:cNvPr id="36" name="Rectangle 97">
                    <a:extLst>
                      <a:ext uri="{FF2B5EF4-FFF2-40B4-BE49-F238E27FC236}">
                        <a16:creationId xmlns:a16="http://schemas.microsoft.com/office/drawing/2014/main" id="{FABC512B-D65D-CB46-0DA3-937485A02331}"/>
                      </a:ext>
                    </a:extLst>
                  </p:cNvPr>
                  <p:cNvSpPr/>
                  <p:nvPr/>
                </p:nvSpPr>
                <p:spPr>
                  <a:xfrm>
                    <a:off x="8195386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Adoption</a:t>
                    </a:r>
                  </a:p>
                </p:txBody>
              </p:sp>
              <p:sp>
                <p:nvSpPr>
                  <p:cNvPr id="37" name="Rectangle 98">
                    <a:extLst>
                      <a:ext uri="{FF2B5EF4-FFF2-40B4-BE49-F238E27FC236}">
                        <a16:creationId xmlns:a16="http://schemas.microsoft.com/office/drawing/2014/main" id="{0EAC97A0-57DA-F7CF-F5C1-E9403FADF18A}"/>
                      </a:ext>
                    </a:extLst>
                  </p:cNvPr>
                  <p:cNvSpPr/>
                  <p:nvPr/>
                </p:nvSpPr>
                <p:spPr>
                  <a:xfrm>
                    <a:off x="8678504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Retention</a:t>
                    </a:r>
                  </a:p>
                </p:txBody>
              </p:sp>
              <p:sp>
                <p:nvSpPr>
                  <p:cNvPr id="38" name="Rectangle 99">
                    <a:extLst>
                      <a:ext uri="{FF2B5EF4-FFF2-40B4-BE49-F238E27FC236}">
                        <a16:creationId xmlns:a16="http://schemas.microsoft.com/office/drawing/2014/main" id="{131DD477-2478-B8FD-B242-D30865B2C21E}"/>
                      </a:ext>
                    </a:extLst>
                  </p:cNvPr>
                  <p:cNvSpPr/>
                  <p:nvPr/>
                </p:nvSpPr>
                <p:spPr>
                  <a:xfrm>
                    <a:off x="9161622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Expansion</a:t>
                    </a:r>
                  </a:p>
                </p:txBody>
              </p:sp>
              <p:sp>
                <p:nvSpPr>
                  <p:cNvPr id="39" name="Rectangle 102">
                    <a:extLst>
                      <a:ext uri="{FF2B5EF4-FFF2-40B4-BE49-F238E27FC236}">
                        <a16:creationId xmlns:a16="http://schemas.microsoft.com/office/drawing/2014/main" id="{E48D47E8-D167-CE8B-B0AE-4AFFF28191C2}"/>
                      </a:ext>
                    </a:extLst>
                  </p:cNvPr>
                  <p:cNvSpPr/>
                  <p:nvPr/>
                </p:nvSpPr>
                <p:spPr>
                  <a:xfrm>
                    <a:off x="9644743" y="3429000"/>
                    <a:ext cx="478972" cy="152633"/>
                  </a:xfrm>
                  <a:prstGeom prst="rect">
                    <a:avLst/>
                  </a:prstGeom>
                  <a:grpFill/>
                  <a:ln w="12700" cap="flat" cmpd="sng" algn="ctr">
                    <a:solidFill>
                      <a:schemeClr val="bg1">
                        <a:lumMod val="75000"/>
                      </a:schemeClr>
                    </a:solidFill>
                    <a:prstDash val="solid"/>
                    <a:miter lim="800000"/>
                  </a:ln>
                  <a:effectLst/>
                </p:spPr>
                <p:txBody>
                  <a:bodyPr rtlCol="0" anchor="ctr"/>
                  <a:lstStyle/>
                  <a:p>
                    <a:pPr marL="0" marR="0" lvl="0" indent="0" algn="ctr" defTabSz="914400" eaLnBrk="1" fontAlgn="auto" latinLnBrk="0" hangingPunct="1">
                      <a:lnSpc>
                        <a:spcPct val="100000"/>
                      </a:lnSpc>
                      <a:spcBef>
                        <a:spcPts val="0"/>
                      </a:spcBef>
                      <a:spcAft>
                        <a:spcPts val="0"/>
                      </a:spcAft>
                      <a:buClrTx/>
                      <a:buSzTx/>
                      <a:buFontTx/>
                      <a:buNone/>
                      <a:tabLst/>
                      <a:defRPr/>
                    </a:pPr>
                    <a:r>
                      <a:rPr kumimoji="0" lang="de-DE" sz="400" b="0" i="0" u="none" strike="noStrike" kern="0" cap="none" spc="0" normalizeH="0" baseline="0" err="1">
                        <a:ln>
                          <a:noFill/>
                        </a:ln>
                        <a:solidFill>
                          <a:schemeClr val="accent2"/>
                        </a:solidFill>
                        <a:effectLst/>
                        <a:uLnTx/>
                        <a:uFillTx/>
                        <a:latin typeface="Montserrat Light"/>
                        <a:ea typeface="+mn-ea"/>
                        <a:cs typeface="Arial" panose="020B0604020202020204" pitchFamily="34" charset="0"/>
                      </a:rPr>
                      <a:t>Advocacy</a:t>
                    </a:r>
                    <a:endParaRPr kumimoji="0" lang="de-DE" sz="4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Arial" panose="020B0604020202020204" pitchFamily="34" charset="0"/>
                    </a:endParaRPr>
                  </a:p>
                </p:txBody>
              </p:sp>
            </p:grpSp>
            <p:sp>
              <p:nvSpPr>
                <p:cNvPr id="17" name="Oval 36">
                  <a:extLst>
                    <a:ext uri="{FF2B5EF4-FFF2-40B4-BE49-F238E27FC236}">
                      <a16:creationId xmlns:a16="http://schemas.microsoft.com/office/drawing/2014/main" id="{694571FB-F77F-E055-8279-BF0279B4E71B}"/>
                    </a:ext>
                  </a:extLst>
                </p:cNvPr>
                <p:cNvSpPr/>
                <p:nvPr/>
              </p:nvSpPr>
              <p:spPr>
                <a:xfrm>
                  <a:off x="6354935" y="3149836"/>
                  <a:ext cx="72000" cy="72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3</a:t>
                  </a:r>
                </a:p>
              </p:txBody>
            </p:sp>
            <p:sp>
              <p:nvSpPr>
                <p:cNvPr id="18" name="Oval 39">
                  <a:extLst>
                    <a:ext uri="{FF2B5EF4-FFF2-40B4-BE49-F238E27FC236}">
                      <a16:creationId xmlns:a16="http://schemas.microsoft.com/office/drawing/2014/main" id="{5444D042-9E27-21A7-56A2-0CDE094BDB7D}"/>
                    </a:ext>
                  </a:extLst>
                </p:cNvPr>
                <p:cNvSpPr/>
                <p:nvPr/>
              </p:nvSpPr>
              <p:spPr>
                <a:xfrm>
                  <a:off x="6499916" y="3230393"/>
                  <a:ext cx="72000" cy="72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6</a:t>
                  </a:r>
                </a:p>
              </p:txBody>
            </p:sp>
            <p:sp>
              <p:nvSpPr>
                <p:cNvPr id="19" name="Oval 41">
                  <a:extLst>
                    <a:ext uri="{FF2B5EF4-FFF2-40B4-BE49-F238E27FC236}">
                      <a16:creationId xmlns:a16="http://schemas.microsoft.com/office/drawing/2014/main" id="{FEEBC8F7-23C1-7860-2244-5EDAF4C987FD}"/>
                    </a:ext>
                  </a:extLst>
                </p:cNvPr>
                <p:cNvSpPr/>
                <p:nvPr/>
              </p:nvSpPr>
              <p:spPr>
                <a:xfrm>
                  <a:off x="6581500" y="3079121"/>
                  <a:ext cx="108000" cy="10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1</a:t>
                  </a:r>
                </a:p>
              </p:txBody>
            </p:sp>
            <p:sp>
              <p:nvSpPr>
                <p:cNvPr id="20" name="Oval 42">
                  <a:extLst>
                    <a:ext uri="{FF2B5EF4-FFF2-40B4-BE49-F238E27FC236}">
                      <a16:creationId xmlns:a16="http://schemas.microsoft.com/office/drawing/2014/main" id="{50890A7E-3E8E-40DC-5A24-2A0FA315302E}"/>
                    </a:ext>
                  </a:extLst>
                </p:cNvPr>
                <p:cNvSpPr/>
                <p:nvPr/>
              </p:nvSpPr>
              <p:spPr>
                <a:xfrm rot="21313542">
                  <a:off x="6816450" y="3167993"/>
                  <a:ext cx="108000" cy="10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4</a:t>
                  </a:r>
                </a:p>
              </p:txBody>
            </p:sp>
            <p:sp>
              <p:nvSpPr>
                <p:cNvPr id="21" name="Oval 43">
                  <a:extLst>
                    <a:ext uri="{FF2B5EF4-FFF2-40B4-BE49-F238E27FC236}">
                      <a16:creationId xmlns:a16="http://schemas.microsoft.com/office/drawing/2014/main" id="{8F494967-AFF3-F77A-41DE-A97DAA22A44A}"/>
                    </a:ext>
                  </a:extLst>
                </p:cNvPr>
                <p:cNvSpPr/>
                <p:nvPr/>
              </p:nvSpPr>
              <p:spPr>
                <a:xfrm>
                  <a:off x="6820758" y="2995250"/>
                  <a:ext cx="108000" cy="10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600" b="0" i="0" u="none" strike="noStrike" kern="0" cap="none" spc="0" normalizeH="0" baseline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ontserrat Light"/>
                    <a:ea typeface="+mn-ea"/>
                    <a:cs typeface="Cordia New"/>
                  </a:endParaRPr>
                </a:p>
              </p:txBody>
            </p:sp>
            <p:sp>
              <p:nvSpPr>
                <p:cNvPr id="22" name="Oval 44">
                  <a:extLst>
                    <a:ext uri="{FF2B5EF4-FFF2-40B4-BE49-F238E27FC236}">
                      <a16:creationId xmlns:a16="http://schemas.microsoft.com/office/drawing/2014/main" id="{522DE157-BA4D-B827-C05A-1DD7946BBEF0}"/>
                    </a:ext>
                  </a:extLst>
                </p:cNvPr>
                <p:cNvSpPr/>
                <p:nvPr/>
              </p:nvSpPr>
              <p:spPr>
                <a:xfrm>
                  <a:off x="7221657" y="2951964"/>
                  <a:ext cx="216000" cy="216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7</a:t>
                  </a:r>
                </a:p>
              </p:txBody>
            </p:sp>
            <p:sp>
              <p:nvSpPr>
                <p:cNvPr id="23" name="Oval 45">
                  <a:extLst>
                    <a:ext uri="{FF2B5EF4-FFF2-40B4-BE49-F238E27FC236}">
                      <a16:creationId xmlns:a16="http://schemas.microsoft.com/office/drawing/2014/main" id="{AF398262-44BB-A824-3A37-045E8EF1307C}"/>
                    </a:ext>
                  </a:extLst>
                </p:cNvPr>
                <p:cNvSpPr/>
                <p:nvPr/>
              </p:nvSpPr>
              <p:spPr>
                <a:xfrm>
                  <a:off x="7088564" y="3110329"/>
                  <a:ext cx="144000" cy="144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8</a:t>
                  </a:r>
                </a:p>
              </p:txBody>
            </p:sp>
            <p:sp>
              <p:nvSpPr>
                <p:cNvPr id="24" name="Oval 46">
                  <a:extLst>
                    <a:ext uri="{FF2B5EF4-FFF2-40B4-BE49-F238E27FC236}">
                      <a16:creationId xmlns:a16="http://schemas.microsoft.com/office/drawing/2014/main" id="{7083D073-8A1E-B8CD-63FE-D5C7FB343CC8}"/>
                    </a:ext>
                  </a:extLst>
                </p:cNvPr>
                <p:cNvSpPr/>
                <p:nvPr/>
              </p:nvSpPr>
              <p:spPr>
                <a:xfrm>
                  <a:off x="7414330" y="3086393"/>
                  <a:ext cx="288000" cy="28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5</a:t>
                  </a:r>
                </a:p>
              </p:txBody>
            </p:sp>
            <p:sp>
              <p:nvSpPr>
                <p:cNvPr id="25" name="Oval 47">
                  <a:extLst>
                    <a:ext uri="{FF2B5EF4-FFF2-40B4-BE49-F238E27FC236}">
                      <a16:creationId xmlns:a16="http://schemas.microsoft.com/office/drawing/2014/main" id="{530E6EA2-6F03-7B79-71D2-A85226115B86}"/>
                    </a:ext>
                  </a:extLst>
                </p:cNvPr>
                <p:cNvSpPr/>
                <p:nvPr/>
              </p:nvSpPr>
              <p:spPr>
                <a:xfrm>
                  <a:off x="7805989" y="3218784"/>
                  <a:ext cx="108000" cy="10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endParaRPr kumimoji="0" lang="de-DE" sz="600" b="0" i="0" u="none" strike="noStrike" kern="0" cap="none" spc="0" normalizeH="0" baseline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ontserrat Light"/>
                    <a:ea typeface="+mn-ea"/>
                    <a:cs typeface="Cordia New"/>
                  </a:endParaRPr>
                </a:p>
              </p:txBody>
            </p:sp>
            <p:sp>
              <p:nvSpPr>
                <p:cNvPr id="26" name="Oval 48">
                  <a:extLst>
                    <a:ext uri="{FF2B5EF4-FFF2-40B4-BE49-F238E27FC236}">
                      <a16:creationId xmlns:a16="http://schemas.microsoft.com/office/drawing/2014/main" id="{AF938FC7-0B24-927A-3D3F-F3CB1BA20095}"/>
                    </a:ext>
                  </a:extLst>
                </p:cNvPr>
                <p:cNvSpPr/>
                <p:nvPr/>
              </p:nvSpPr>
              <p:spPr>
                <a:xfrm>
                  <a:off x="7856270" y="3043042"/>
                  <a:ext cx="108000" cy="10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9</a:t>
                  </a:r>
                </a:p>
              </p:txBody>
            </p:sp>
            <p:sp>
              <p:nvSpPr>
                <p:cNvPr id="27" name="Oval 49">
                  <a:extLst>
                    <a:ext uri="{FF2B5EF4-FFF2-40B4-BE49-F238E27FC236}">
                      <a16:creationId xmlns:a16="http://schemas.microsoft.com/office/drawing/2014/main" id="{F7FF89DB-ACB4-267A-EB54-C53DAC11B03E}"/>
                    </a:ext>
                  </a:extLst>
                </p:cNvPr>
                <p:cNvSpPr/>
                <p:nvPr/>
              </p:nvSpPr>
              <p:spPr>
                <a:xfrm>
                  <a:off x="8036622" y="3122393"/>
                  <a:ext cx="216000" cy="216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tIns="45720" rIns="0" bIns="4572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cs typeface="Cordia New"/>
                    </a:rPr>
                    <a:t>11</a:t>
                  </a:r>
                  <a:endParaRPr lang="de-DE" sz="600" b="0" i="0" u="none" strike="noStrike" kern="0" cap="none" spc="0" normalizeH="0" baseline="0">
                    <a:ln>
                      <a:noFill/>
                    </a:ln>
                    <a:solidFill>
                      <a:schemeClr val="accent2"/>
                    </a:solidFill>
                    <a:effectLst/>
                    <a:uLnTx/>
                    <a:uFillTx/>
                    <a:latin typeface="Montserrat Light"/>
                    <a:cs typeface="Cordia New"/>
                  </a:endParaRPr>
                </a:p>
              </p:txBody>
            </p:sp>
            <p:sp>
              <p:nvSpPr>
                <p:cNvPr id="28" name="Oval 50">
                  <a:extLst>
                    <a:ext uri="{FF2B5EF4-FFF2-40B4-BE49-F238E27FC236}">
                      <a16:creationId xmlns:a16="http://schemas.microsoft.com/office/drawing/2014/main" id="{36C78313-887E-945E-C357-0C43C036E7F8}"/>
                    </a:ext>
                  </a:extLst>
                </p:cNvPr>
                <p:cNvSpPr/>
                <p:nvPr/>
              </p:nvSpPr>
              <p:spPr>
                <a:xfrm>
                  <a:off x="9233419" y="3137400"/>
                  <a:ext cx="72000" cy="72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14</a:t>
                  </a:r>
                </a:p>
              </p:txBody>
            </p:sp>
            <p:sp>
              <p:nvSpPr>
                <p:cNvPr id="29" name="Oval 51">
                  <a:extLst>
                    <a:ext uri="{FF2B5EF4-FFF2-40B4-BE49-F238E27FC236}">
                      <a16:creationId xmlns:a16="http://schemas.microsoft.com/office/drawing/2014/main" id="{0E59AD54-1813-004C-D41E-16EA425E0F96}"/>
                    </a:ext>
                  </a:extLst>
                </p:cNvPr>
                <p:cNvSpPr/>
                <p:nvPr/>
              </p:nvSpPr>
              <p:spPr>
                <a:xfrm>
                  <a:off x="8442537" y="2977713"/>
                  <a:ext cx="72000" cy="72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4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12</a:t>
                  </a:r>
                </a:p>
              </p:txBody>
            </p:sp>
            <p:sp>
              <p:nvSpPr>
                <p:cNvPr id="30" name="Oval 52">
                  <a:extLst>
                    <a:ext uri="{FF2B5EF4-FFF2-40B4-BE49-F238E27FC236}">
                      <a16:creationId xmlns:a16="http://schemas.microsoft.com/office/drawing/2014/main" id="{FF44BEC3-5DC8-5214-658E-4C2278D685F6}"/>
                    </a:ext>
                  </a:extLst>
                </p:cNvPr>
                <p:cNvSpPr/>
                <p:nvPr/>
              </p:nvSpPr>
              <p:spPr>
                <a:xfrm>
                  <a:off x="8594937" y="3130113"/>
                  <a:ext cx="72000" cy="72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lIns="0" rIns="0"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4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13</a:t>
                  </a:r>
                </a:p>
              </p:txBody>
            </p:sp>
            <p:sp>
              <p:nvSpPr>
                <p:cNvPr id="31" name="Oval 53">
                  <a:extLst>
                    <a:ext uri="{FF2B5EF4-FFF2-40B4-BE49-F238E27FC236}">
                      <a16:creationId xmlns:a16="http://schemas.microsoft.com/office/drawing/2014/main" id="{65144DE4-622A-660F-1601-8541E1BF16BD}"/>
                    </a:ext>
                  </a:extLst>
                </p:cNvPr>
                <p:cNvSpPr/>
                <p:nvPr/>
              </p:nvSpPr>
              <p:spPr>
                <a:xfrm>
                  <a:off x="6933904" y="3076684"/>
                  <a:ext cx="108000" cy="108000"/>
                </a:xfrm>
                <a:prstGeom prst="ellipse">
                  <a:avLst/>
                </a:prstGeom>
                <a:grpFill/>
                <a:ln w="12700" cap="flat" cmpd="sng" algn="ctr">
                  <a:solidFill>
                    <a:schemeClr val="bg1">
                      <a:lumMod val="75000"/>
                    </a:schemeClr>
                  </a:solidFill>
                  <a:prstDash val="solid"/>
                  <a:miter lim="800000"/>
                </a:ln>
                <a:effectLst/>
              </p:spPr>
              <p:txBody>
                <a:bodyPr rtlCol="0" anchor="ctr"/>
                <a:lstStyle/>
                <a:p>
                  <a:pPr marL="0" marR="0" lvl="0" indent="0" algn="ctr" defTabSz="914400" eaLnBrk="1" fontAlgn="auto" latinLnBrk="0" hangingPunct="1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Tx/>
                    <a:buSzTx/>
                    <a:buFontTx/>
                    <a:buNone/>
                    <a:tabLst/>
                    <a:defRPr/>
                  </a:pPr>
                  <a:r>
                    <a:rPr kumimoji="0" lang="de-DE" sz="600" b="0" i="0" u="none" strike="noStrike" kern="0" cap="none" spc="0" normalizeH="0" baseline="0">
                      <a:ln>
                        <a:noFill/>
                      </a:ln>
                      <a:solidFill>
                        <a:schemeClr val="accent2"/>
                      </a:solidFill>
                      <a:effectLst/>
                      <a:uLnTx/>
                      <a:uFillTx/>
                      <a:latin typeface="Montserrat Light"/>
                      <a:ea typeface="+mn-ea"/>
                      <a:cs typeface="Cordia New"/>
                    </a:rPr>
                    <a:t>2</a:t>
                  </a:r>
                </a:p>
              </p:txBody>
            </p:sp>
          </p:grpSp>
          <p:sp>
            <p:nvSpPr>
              <p:cNvPr id="15" name="Rectangle 5">
                <a:extLst>
                  <a:ext uri="{FF2B5EF4-FFF2-40B4-BE49-F238E27FC236}">
                    <a16:creationId xmlns:a16="http://schemas.microsoft.com/office/drawing/2014/main" id="{2038D86E-F628-E0C3-B4AD-1C6418AE7398}"/>
                  </a:ext>
                </a:extLst>
              </p:cNvPr>
              <p:cNvSpPr txBox="1">
                <a:spLocks noChangeArrowheads="1"/>
              </p:cNvSpPr>
              <p:nvPr/>
            </p:nvSpPr>
            <p:spPr>
              <a:xfrm>
                <a:off x="6857919" y="3650179"/>
                <a:ext cx="4812073" cy="67427"/>
              </a:xfrm>
              <a:prstGeom prst="rect">
                <a:avLst/>
              </a:prstGeom>
              <a:noFill/>
              <a:ln/>
            </p:spPr>
            <p:txBody>
              <a:bodyPr vert="horz" wrap="square" lIns="0" tIns="0" rIns="0" bIns="0" rtlCol="0" anchor="ctr">
                <a:spAutoFit/>
              </a:bodyPr>
              <a:lstStyle/>
              <a:p>
                <a:pPr>
                  <a:lnSpc>
                    <a:spcPct val="90000"/>
                  </a:lnSpc>
                  <a:spcBef>
                    <a:spcPts val="400"/>
                  </a:spcBef>
                  <a:buClr>
                    <a:srgbClr val="000000"/>
                  </a:buClr>
                  <a:buSzPct val="100000"/>
                </a:pPr>
                <a:r>
                  <a:rPr lang="de-DE" sz="400">
                    <a:solidFill>
                      <a:schemeClr val="accent1"/>
                    </a:solidFill>
                  </a:rPr>
                  <a:t>1-14: </a:t>
                </a:r>
                <a:r>
                  <a:rPr lang="de-DE" sz="400" err="1">
                    <a:solidFill>
                      <a:schemeClr val="accent1"/>
                    </a:solidFill>
                  </a:rPr>
                  <a:t>order</a:t>
                </a:r>
                <a:r>
                  <a:rPr lang="de-DE" sz="400">
                    <a:solidFill>
                      <a:schemeClr val="accent1"/>
                    </a:solidFill>
                  </a:rPr>
                  <a:t> </a:t>
                </a:r>
                <a:r>
                  <a:rPr lang="de-DE" sz="400" err="1">
                    <a:solidFill>
                      <a:schemeClr val="accent1"/>
                    </a:solidFill>
                  </a:rPr>
                  <a:t>of</a:t>
                </a:r>
                <a:r>
                  <a:rPr lang="de-DE" sz="400">
                    <a:solidFill>
                      <a:schemeClr val="accent1"/>
                    </a:solidFill>
                  </a:rPr>
                  <a:t> </a:t>
                </a:r>
                <a:r>
                  <a:rPr lang="de-DE" sz="400" err="1">
                    <a:solidFill>
                      <a:schemeClr val="accent1"/>
                    </a:solidFill>
                  </a:rPr>
                  <a:t>behaviour</a:t>
                </a:r>
                <a:r>
                  <a:rPr lang="de-DE" sz="400">
                    <a:solidFill>
                      <a:schemeClr val="accent1"/>
                    </a:solidFill>
                  </a:rPr>
                  <a:t>;  Circle </a:t>
                </a:r>
                <a:r>
                  <a:rPr lang="de-DE" sz="400" err="1">
                    <a:solidFill>
                      <a:schemeClr val="accent1"/>
                    </a:solidFill>
                  </a:rPr>
                  <a:t>size</a:t>
                </a:r>
                <a:r>
                  <a:rPr lang="de-DE" sz="400">
                    <a:solidFill>
                      <a:schemeClr val="accent1"/>
                    </a:solidFill>
                  </a:rPr>
                  <a:t>: </a:t>
                </a:r>
                <a:r>
                  <a:rPr lang="de-DE" sz="400" err="1">
                    <a:solidFill>
                      <a:schemeClr val="accent1"/>
                    </a:solidFill>
                  </a:rPr>
                  <a:t>weight</a:t>
                </a:r>
                <a:r>
                  <a:rPr lang="de-DE" sz="400">
                    <a:solidFill>
                      <a:schemeClr val="accent1"/>
                    </a:solidFill>
                  </a:rPr>
                  <a:t> </a:t>
                </a:r>
                <a:r>
                  <a:rPr lang="de-DE" sz="400" err="1">
                    <a:solidFill>
                      <a:schemeClr val="accent1"/>
                    </a:solidFill>
                  </a:rPr>
                  <a:t>of</a:t>
                </a:r>
                <a:r>
                  <a:rPr lang="de-DE" sz="400">
                    <a:solidFill>
                      <a:schemeClr val="accent1"/>
                    </a:solidFill>
                  </a:rPr>
                  <a:t> </a:t>
                </a:r>
                <a:r>
                  <a:rPr lang="de-DE" sz="400" err="1">
                    <a:solidFill>
                      <a:schemeClr val="accent1"/>
                    </a:solidFill>
                  </a:rPr>
                  <a:t>behavior</a:t>
                </a:r>
                <a:endParaRPr lang="de-DE" sz="400">
                  <a:solidFill>
                    <a:schemeClr val="accent1"/>
                  </a:solidFill>
                </a:endParaRPr>
              </a:p>
            </p:txBody>
          </p:sp>
        </p:grpSp>
        <p:sp>
          <p:nvSpPr>
            <p:cNvPr id="13" name="Rectangle 27">
              <a:extLst>
                <a:ext uri="{FF2B5EF4-FFF2-40B4-BE49-F238E27FC236}">
                  <a16:creationId xmlns:a16="http://schemas.microsoft.com/office/drawing/2014/main" id="{1E6DE68C-A9FB-2A23-4BE9-9D84F126DB2E}"/>
                </a:ext>
              </a:extLst>
            </p:cNvPr>
            <p:cNvSpPr>
              <a:spLocks noChangeAspect="1"/>
            </p:cNvSpPr>
            <p:nvPr/>
          </p:nvSpPr>
          <p:spPr>
            <a:xfrm>
              <a:off x="6507861" y="2561583"/>
              <a:ext cx="5011597" cy="1232316"/>
            </a:xfrm>
            <a:prstGeom prst="rect">
              <a:avLst/>
            </a:prstGeom>
            <a:noFill/>
            <a:ln w="9525" cap="flat" cmpd="sng" algn="ctr">
              <a:noFill/>
              <a:prstDash val="solid"/>
            </a:ln>
            <a:effectLst/>
          </p:spPr>
          <p:txBody>
            <a:bodyPr lIns="72000" tIns="0" rIns="72000" bIns="0" rtlCol="0" anchor="ctr"/>
            <a:lstStyle/>
            <a:p>
              <a:pPr marL="0" marR="0" lvl="0" indent="0" algn="ctr" defTabSz="914400" fontAlgn="base" latinLnBrk="0" hangingPunct="1">
                <a:lnSpc>
                  <a:spcPct val="90000"/>
                </a:lnSpc>
                <a:spcBef>
                  <a:spcPts val="30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de-DE" sz="1300" b="0" i="0" u="none" strike="noStrike" kern="0" cap="none" spc="0" normalizeH="0" baseline="0">
                <a:ln>
                  <a:noFill/>
                </a:ln>
                <a:solidFill>
                  <a:srgbClr val="8D9399"/>
                </a:solidFill>
                <a:effectLst/>
                <a:uLnTx/>
                <a:uFillTx/>
                <a:latin typeface="Arial Narrow"/>
                <a:cs typeface="Arial" pitchFamily="34" charset="0"/>
              </a:endParaRPr>
            </a:p>
          </p:txBody>
        </p:sp>
      </p:grpSp>
      <p:sp>
        <p:nvSpPr>
          <p:cNvPr id="40" name="Rectangle 27">
            <a:extLst>
              <a:ext uri="{FF2B5EF4-FFF2-40B4-BE49-F238E27FC236}">
                <a16:creationId xmlns:a16="http://schemas.microsoft.com/office/drawing/2014/main" id="{6D384436-0A42-1CAE-0CCA-7979C4071AA5}"/>
              </a:ext>
            </a:extLst>
          </p:cNvPr>
          <p:cNvSpPr>
            <a:spLocks noChangeAspect="1"/>
          </p:cNvSpPr>
          <p:nvPr/>
        </p:nvSpPr>
        <p:spPr>
          <a:xfrm>
            <a:off x="917418" y="2026717"/>
            <a:ext cx="2938080" cy="1137066"/>
          </a:xfrm>
          <a:prstGeom prst="rect">
            <a:avLst/>
          </a:prstGeom>
          <a:noFill/>
          <a:ln w="9525" cap="flat" cmpd="sng" algn="ctr">
            <a:solidFill>
              <a:srgbClr val="DEE0E3"/>
            </a:solidFill>
            <a:prstDash val="solid"/>
          </a:ln>
          <a:effectLst/>
        </p:spPr>
        <p:txBody>
          <a:bodyPr lIns="72000" tIns="0" rIns="72000" bIns="0" rtlCol="0" anchor="ctr"/>
          <a:lstStyle/>
          <a:p>
            <a:pPr marL="0" marR="0" lvl="0" indent="0" algn="ctr" defTabSz="914400" fontAlgn="base" latinLnBrk="0" hangingPunct="1">
              <a:lnSpc>
                <a:spcPct val="90000"/>
              </a:lnSpc>
              <a:spcBef>
                <a:spcPts val="30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de-DE" sz="1300" b="0" i="0" u="none" strike="noStrike" kern="0" cap="none" spc="0" normalizeH="0" baseline="0">
              <a:ln>
                <a:noFill/>
              </a:ln>
              <a:solidFill>
                <a:srgbClr val="8D9399"/>
              </a:solidFill>
              <a:effectLst/>
              <a:uLnTx/>
              <a:uFillTx/>
              <a:latin typeface="Arial Narrow"/>
              <a:cs typeface="Arial" pitchFamily="34" charset="0"/>
            </a:endParaRPr>
          </a:p>
        </p:txBody>
      </p:sp>
      <p:pic>
        <p:nvPicPr>
          <p:cNvPr id="41" name="Picture 11" descr="A picture containing text, electronics, display, screenshot&#10;&#10;Description automatically generated">
            <a:extLst>
              <a:ext uri="{FF2B5EF4-FFF2-40B4-BE49-F238E27FC236}">
                <a16:creationId xmlns:a16="http://schemas.microsoft.com/office/drawing/2014/main" id="{DDFDA1FC-ABD9-8080-7354-62D2E326B19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78317" y="1494138"/>
            <a:ext cx="4013506" cy="24292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102981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PRESENTATIONDONOTDELETE" val="&lt;?xml version=&quot;1.0&quot; encoding=&quot;UTF-16&quot; standalone=&quot;yes&quot;?&gt;&lt;root reqver=&quot;24162&quot;&gt;&lt;version val=&quot;27042&quot;/&gt;&lt;CPresentation id=&quot;1&quot;&gt;&lt;m_precDefaultNumber&gt;&lt;m_bNumberIsYear val=&quot;1&quot;/&gt;&lt;m_chMinusSymbol&gt;-&lt;/m_chMinusSymbol&gt;&lt;m_chDecimalSymbol17909&gt;,&lt;/m_chDecimalSymbol17909&gt;&lt;m_nGroupingDigits17909 val=&quot;3&quot;/&gt;&lt;m_chGroupingSymbol17909&gt;.&lt;/m_chGroupingSymbol17909&gt;&lt;m_yearfmt&gt;&lt;begin val=&quot;0&quot;/&gt;&lt;end val=&quot;4&quot;/&gt;&lt;/m_yearfmt&gt;&lt;/m_precDefaultNumber&gt;&lt;m_precDefaultPercent&gt;&lt;m_bNumberIsYear val=&quot;1&quot;/&gt;&lt;m_chMinusSymbol&gt;-&lt;/m_chMinusSymbol&gt;&lt;m_nDecimalDigits17909 val=&quot;0&quot;/&gt;&lt;m_chDecimalSymbol17909&gt;,&lt;/m_chDecimalSymbol17909&gt;&lt;m_nGroupingDigits17909 val=&quot;3&quot;/&gt;&lt;m_chGroupingSymbol17909&gt;.&lt;/m_chGroupingSymbol17909&gt;&lt;m_strSuffix17909&gt;%&lt;/m_strSuffix17909&gt;&lt;m_yearfmt&gt;&lt;begin val=&quot;0&quot;/&gt;&lt;end val=&quot;4&quot;/&gt;&lt;/m_yearfmt&gt;&lt;/m_precDefaultPercent&gt;&lt;m_precDefaultDate&gt;&lt;m_bNumberIsYear val=&quot;0&quot;/&gt;&lt;m_strFormatTime&gt;%d/%m/%Y&lt;/m_strFormatTime&gt;&lt;m_yearfmt&gt;&lt;begin val=&quot;0&quot;/&gt;&lt;end val=&quot;0&quot;/&gt;&lt;/m_yearfmt&gt;&lt;/m_precDefaultDate&gt;&lt;m_precDefaultYear&gt;&lt;m_yearfmt&gt;&lt;begin val=&quot;0&quot;/&gt;&lt;end val=&quot;4&quot;/&gt;&lt;/m_yearfmt&gt;&lt;/m_precDefaultYear&gt;&lt;m_precDefaultQuarter&gt;&lt;m_yearfmt&gt;&lt;begin val=&quot;0&quot;/&gt;&lt;end val=&quot;4&quot;/&gt;&lt;/m_yearfmt&gt;&lt;/m_precDefaultQuarter&gt;&lt;m_precDefaultMonth&gt;&lt;m_yearfmt&gt;&lt;begin val=&quot;0&quot;/&gt;&lt;end val=&quot;4&quot;/&gt;&lt;/m_yearfmt&gt;&lt;/m_precDefaultMonth&gt;&lt;m_precDefaultWeek&gt;&lt;m_yearfmt&gt;&lt;begin val=&quot;0&quot;/&gt;&lt;end val=&quot;4&quot;/&gt;&lt;/m_yearfmt&gt;&lt;/m_precDefaultWeek&gt;&lt;m_precDefaultDay&gt;&lt;m_yearfmt&gt;&lt;begin val=&quot;0&quot;/&gt;&lt;end val=&quot;4&quot;/&gt;&lt;/m_yearfmt&gt;&lt;/m_precDefaultDay&gt;&lt;m_mruColor&gt;&lt;m_vecMRU length=&quot;3&quot;&gt;&lt;elem m_fUsage=&quot;1.81000000000000005329E+00&quot;&gt;&lt;m_msothmcolidx val=&quot;0&quot;/&gt;&lt;m_rgb r=&quot;9F&quot; g=&quot;D8&quot; b=&quot;0E&quot;/&gt;&lt;m_nBrightness tagver0=&quot;26206&quot; tagname0=&quot;m_nBrightnessUNRECOGNIZED&quot; val=&quot;0&quot;/&gt;&lt;/elem&gt;&lt;elem m_fUsage=&quot;9.00000000000000022204E-01&quot;&gt;&lt;m_msothmcolidx val=&quot;0&quot;/&gt;&lt;m_rgb r=&quot;CD&quot; g=&quot;CD&quot; b=&quot;CD&quot;/&gt;&lt;m_nBrightness tagver0=&quot;26206&quot; tagname0=&quot;m_nBrightnessUNRECOGNIZED&quot; val=&quot;0&quot;/&gt;&lt;/elem&gt;&lt;elem m_fUsage=&quot;7.29000000000000092371E-01&quot;&gt;&lt;m_msothmcolidx val=&quot;0&quot;/&gt;&lt;m_rgb r=&quot;6D&quot; g=&quot;E2&quot; b=&quot;41&quot;/&gt;&lt;m_nBrightness tagver0=&quot;26206&quot; tagname0=&quot;m_nBrightnessUNRECOGNIZED&quot; val=&quot;0&quot;/&gt;&lt;/elem&gt;&lt;/m_vecMRU&gt;&lt;/m_mruColor&gt;&lt;m_eweekdayFirstOfWeek val=&quot;2&quot;/&gt;&lt;m_eweekdayFirstOfWorkweek val=&quot;2&quot;/&gt;&lt;m_eweekdayFirstOfWeekend val=&quot;7&quot;/&gt;&lt;/CPresentation&gt;&lt;/root&gt;"/>
  <p:tag name="THINKCELLUNDODONOTDELETE" val="0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7Kr2SfJSy2G5o8HW8Sttw"/>
</p:tagLst>
</file>

<file path=ppt/theme/theme1.xml><?xml version="1.0" encoding="utf-8"?>
<a:theme xmlns:a="http://schemas.openxmlformats.org/drawingml/2006/main" name="Reply">
  <a:themeElements>
    <a:clrScheme name="Benutzerdefiniert 2">
      <a:dk1>
        <a:srgbClr val="FFFFFF"/>
      </a:dk1>
      <a:lt1>
        <a:srgbClr val="000000"/>
      </a:lt1>
      <a:dk2>
        <a:srgbClr val="053238"/>
      </a:dk2>
      <a:lt2>
        <a:srgbClr val="00B13F"/>
      </a:lt2>
      <a:accent1>
        <a:srgbClr val="71D83F"/>
      </a:accent1>
      <a:accent2>
        <a:srgbClr val="00B140"/>
      </a:accent2>
      <a:accent3>
        <a:srgbClr val="A6E650"/>
      </a:accent3>
      <a:accent4>
        <a:srgbClr val="8CDE4F"/>
      </a:accent4>
      <a:accent5>
        <a:srgbClr val="6DD54E"/>
      </a:accent5>
      <a:accent6>
        <a:srgbClr val="40C44E"/>
      </a:accent6>
      <a:hlink>
        <a:srgbClr val="25BB4E"/>
      </a:hlink>
      <a:folHlink>
        <a:srgbClr val="B4D020"/>
      </a:folHlink>
    </a:clrScheme>
    <a:fontScheme name="Arial">
      <a:maj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ajorFont>
      <a:minorFont>
        <a:latin typeface="Arial" panose="020B0604020202020204"/>
        <a:ea typeface=""/>
        <a:cs typeface=""/>
        <a:font script="Jpan" typeface="ＭＳ Ｐゴシック"/>
        <a:font script="Hang" typeface="굴림"/>
        <a:font script="Hans" typeface="黑体"/>
        <a:font script="Hant" typeface="微軟正黑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tx2"/>
        </a:solidFill>
        <a:ln>
          <a:noFill/>
        </a:ln>
        <a:effectLst/>
      </a:spPr>
      <a:bodyPr rtlCol="0" anchor="ctr"/>
      <a:lstStyle>
        <a:defPPr algn="ctr">
          <a:defRPr/>
        </a:defPPr>
      </a:lstStyle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>
        <a:ln>
          <a:solidFill>
            <a:srgbClr val="FFFFFF"/>
          </a:solidFill>
        </a:ln>
        <a:effectLst/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rtlCol="0">
        <a:spAutoFit/>
      </a:bodyPr>
      <a:lstStyle>
        <a:defPPr>
          <a:defRPr sz="1400" dirty="0" err="1" smtClean="0"/>
        </a:defPPr>
      </a:lstStyle>
    </a:txDef>
  </a:objectDefaults>
  <a:extraClrSchemeLst/>
  <a:extLst>
    <a:ext uri="{05A4C25C-085E-4340-85A3-A5531E510DB2}">
      <thm15:themeFamily xmlns:thm15="http://schemas.microsoft.com/office/thememl/2012/main" name="Presentation4" id="{097ED64C-1469-4E9B-A6EE-E169F18D7DB3}" vid="{B73C506B-0DF6-4CFA-9B1D-8AAF7C797600}"/>
    </a:ext>
  </a:extLst>
</a:theme>
</file>

<file path=ppt/theme/theme2.xml><?xml version="1.0" encoding="utf-8"?>
<a:theme xmlns:a="http://schemas.openxmlformats.org/drawingml/2006/main" name="Tema di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40DA48F075C5B4A97888B7494D83B0A" ma:contentTypeVersion="18" ma:contentTypeDescription="Create a new document." ma:contentTypeScope="" ma:versionID="1a522abe8c59da9d6467652055971ea3">
  <xsd:schema xmlns:xsd="http://www.w3.org/2001/XMLSchema" xmlns:xs="http://www.w3.org/2001/XMLSchema" xmlns:p="http://schemas.microsoft.com/office/2006/metadata/properties" xmlns:ns2="3ed6e455-ac74-4dac-a85f-281444f13a89" xmlns:ns3="93dfb1fd-9939-48e8-b7f9-906c8dec5f83" targetNamespace="http://schemas.microsoft.com/office/2006/metadata/properties" ma:root="true" ma:fieldsID="b19f811aee0631183f61d9d45dafbe9b" ns2:_="" ns3:_="">
    <xsd:import namespace="3ed6e455-ac74-4dac-a85f-281444f13a89"/>
    <xsd:import namespace="93dfb1fd-9939-48e8-b7f9-906c8dec5f83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DateTaken" minOccurs="0"/>
                <xsd:element ref="ns2:MediaServiceAutoTags" minOccurs="0"/>
                <xsd:element ref="ns2:MediaServiceOCR" minOccurs="0"/>
                <xsd:element ref="ns3:SharedWithUsers" minOccurs="0"/>
                <xsd:element ref="ns3:SharedWithDetails" minOccurs="0"/>
                <xsd:element ref="ns2:MediaServiceLocation" minOccurs="0"/>
                <xsd:element ref="ns2:MediaServiceGenerationTime" minOccurs="0"/>
                <xsd:element ref="ns2:MediaServiceEventHashCode" minOccurs="0"/>
                <xsd:element ref="ns2:MediaServiceAutoKeyPoints" minOccurs="0"/>
                <xsd:element ref="ns2:MediaServiceKeyPoints" minOccurs="0"/>
                <xsd:element ref="ns2:MediaLengthInSeconds" minOccurs="0"/>
                <xsd:element ref="ns2:lcf76f155ced4ddcb4097134ff3c332f" minOccurs="0"/>
                <xsd:element ref="ns3:TaxCatchAll" minOccurs="0"/>
                <xsd:element ref="ns2:MediaServiceObjectDetectorVersions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ed6e455-ac74-4dac-a85f-281444f13a8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0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1" nillable="true" ma:displayName="Tags" ma:internalName="MediaServiceAutoTags" ma:readOnly="true">
      <xsd:simpleType>
        <xsd:restriction base="dms:Text"/>
      </xsd:simpleType>
    </xsd:element>
    <xsd:element name="MediaServiceOCR" ma:index="1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5" nillable="true" ma:displayName="Location" ma:internalName="MediaServiceLocation" ma:readOnly="true">
      <xsd:simpleType>
        <xsd:restriction base="dms:Text"/>
      </xsd:simpleType>
    </xsd:element>
    <xsd:element name="MediaServiceGenerationTime" ma:index="16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7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18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9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0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2" nillable="true" ma:taxonomy="true" ma:internalName="lcf76f155ced4ddcb4097134ff3c332f" ma:taxonomyFieldName="MediaServiceImageTags" ma:displayName="Image Tags" ma:readOnly="false" ma:fieldId="{5cf76f15-5ced-4ddc-b409-7134ff3c332f}" ma:taxonomyMulti="true" ma:sspId="fa14d781-0189-441e-87ef-c208f41383c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4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25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3dfb1fd-9939-48e8-b7f9-906c8dec5f83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23" nillable="true" ma:displayName="Taxonomy Catch All Column" ma:hidden="true" ma:list="{3fae4711-15c2-4032-ae7d-782264aaa624}" ma:internalName="TaxCatchAll" ma:showField="CatchAllData" ma:web="93dfb1fd-9939-48e8-b7f9-906c8dec5f83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SharedWithUsers xmlns="93dfb1fd-9939-48e8-b7f9-906c8dec5f83">
      <UserInfo>
        <DisplayName>Claudia Ciuciu</DisplayName>
        <AccountId>784</AccountId>
        <AccountType/>
      </UserInfo>
      <UserInfo>
        <DisplayName>Annie Yim</DisplayName>
        <AccountId>36</AccountId>
        <AccountType/>
      </UserInfo>
      <UserInfo>
        <DisplayName>Giuseppe Gagliano</DisplayName>
        <AccountId>360</AccountId>
        <AccountType/>
      </UserInfo>
    </SharedWithUsers>
    <lcf76f155ced4ddcb4097134ff3c332f xmlns="3ed6e455-ac74-4dac-a85f-281444f13a89">
      <Terms xmlns="http://schemas.microsoft.com/office/infopath/2007/PartnerControls"/>
    </lcf76f155ced4ddcb4097134ff3c332f>
    <TaxCatchAll xmlns="93dfb1fd-9939-48e8-b7f9-906c8dec5f83" xsi:nil="true"/>
  </documentManagement>
</p:properties>
</file>

<file path=customXml/itemProps1.xml><?xml version="1.0" encoding="utf-8"?>
<ds:datastoreItem xmlns:ds="http://schemas.openxmlformats.org/officeDocument/2006/customXml" ds:itemID="{2E225052-F2B8-49FC-A412-5D27ABF2318D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A364AE00-00DD-413F-A79B-723585B863D8}">
  <ds:schemaRefs>
    <ds:schemaRef ds:uri="3ed6e455-ac74-4dac-a85f-281444f13a89"/>
    <ds:schemaRef ds:uri="93dfb1fd-9939-48e8-b7f9-906c8dec5f83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E7C53C13-48C7-4544-93BF-9003A9BB3E88}">
  <ds:schemaRefs>
    <ds:schemaRef ds:uri="http://www.w3.org/XML/1998/namespace"/>
    <ds:schemaRef ds:uri="http://purl.org/dc/dcmitype/"/>
    <ds:schemaRef ds:uri="http://schemas.microsoft.com/office/infopath/2007/PartnerControls"/>
    <ds:schemaRef ds:uri="http://purl.org/dc/elements/1.1/"/>
    <ds:schemaRef ds:uri="93dfb1fd-9939-48e8-b7f9-906c8dec5f83"/>
    <ds:schemaRef ds:uri="http://purl.org/dc/terms/"/>
    <ds:schemaRef ds:uri="http://schemas.openxmlformats.org/package/2006/metadata/core-properties"/>
    <ds:schemaRef ds:uri="http://schemas.microsoft.com/office/2006/documentManagement/types"/>
    <ds:schemaRef ds:uri="3ed6e455-ac74-4dac-a85f-281444f13a89"/>
    <ds:schemaRef ds:uri="http://schemas.microsoft.com/office/2006/metadata/properties"/>
  </ds:schemaRefs>
</ds:datastoreItem>
</file>

<file path=docMetadata/LabelInfo.xml><?xml version="1.0" encoding="utf-8"?>
<clbl:labelList xmlns:clbl="http://schemas.microsoft.com/office/2020/mipLabelMetadata">
  <clbl:label id="{b00367e2-193a-4f48-94de-7245d45c0947}" enabled="0" method="" siteId="{b00367e2-193a-4f48-94de-7245d45c0947}" removed="1"/>
</clbl:labelList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197</Words>
  <Application>Microsoft Office PowerPoint</Application>
  <PresentationFormat>Widescreen</PresentationFormat>
  <Paragraphs>34</Paragraphs>
  <Slides>1</Slides>
  <Notes>0</Notes>
  <HiddenSlides>0</HiddenSlides>
  <MMClips>0</MMClips>
  <ScaleCrop>false</ScaleCrop>
  <HeadingPairs>
    <vt:vector size="8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Embedded OLE Servers</vt:lpstr>
      </vt:variant>
      <vt:variant>
        <vt:i4>2</vt:i4>
      </vt:variant>
      <vt:variant>
        <vt:lpstr>Slide Titles</vt:lpstr>
      </vt:variant>
      <vt:variant>
        <vt:i4>1</vt:i4>
      </vt:variant>
    </vt:vector>
  </HeadingPairs>
  <TitlesOfParts>
    <vt:vector size="10" baseType="lpstr">
      <vt:lpstr>Arial</vt:lpstr>
      <vt:lpstr>Arial Black</vt:lpstr>
      <vt:lpstr>Arial Narrow</vt:lpstr>
      <vt:lpstr>Calibri</vt:lpstr>
      <vt:lpstr>Montserrat Light</vt:lpstr>
      <vt:lpstr>Wingdings</vt:lpstr>
      <vt:lpstr>Reply</vt:lpstr>
      <vt:lpstr>think-cell Folie</vt:lpstr>
      <vt:lpstr>think-cell Slide</vt:lpstr>
      <vt:lpstr>Kundensegmentierung ist die Basis für Use Cases, die den Entscheidungsprozess der Kunden positiv unterstützen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Presentazione standard di PowerPoint</dc:title>
  <dc:subject/>
  <dc:creator>Laura Woljem</dc:creator>
  <cp:keywords/>
  <dc:description/>
  <cp:lastModifiedBy>Maurits De Roover</cp:lastModifiedBy>
  <cp:revision>4</cp:revision>
  <dcterms:created xsi:type="dcterms:W3CDTF">2017-04-28T20:36:13Z</dcterms:created>
  <dcterms:modified xsi:type="dcterms:W3CDTF">2025-04-16T05:44:14Z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0x010100C40DA48F075C5B4A97888B7494D83B0A</vt:lpwstr>
  </property>
  <property fmtid="{D5CDD505-2E9C-101B-9397-08002B2CF9AE}" pid="3" name="AuthorIds_UIVersion_512">
    <vt:lpwstr>6</vt:lpwstr>
  </property>
  <property fmtid="{D5CDD505-2E9C-101B-9397-08002B2CF9AE}" pid="4" name="MediaServiceImageTags">
    <vt:lpwstr/>
  </property>
</Properties>
</file>