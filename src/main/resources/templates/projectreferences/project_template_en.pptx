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6"/>
  </p:notesMasterIdLst>
  <p:handoutMasterIdLst>
    <p:handoutMasterId r:id="rId7"/>
  </p:handoutMasterIdLst>
  <p:sldIdLst>
    <p:sldId id="276" r:id="rId5"/>
  </p:sldIdLst>
  <p:sldSz cx="12192000" cy="6858000"/>
  <p:notesSz cx="6858000" cy="9144000"/>
  <p:custDataLst>
    <p:tags r:id="rId8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7" userDrawn="1">
          <p15:clr>
            <a:srgbClr val="A4A3A4"/>
          </p15:clr>
        </p15:guide>
        <p15:guide id="2" pos="19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394CB5-2D2F-ACCB-DE02-FE54B343AEB8}" name="Henryk Borzymowski" initials="HB" userId="S::h.borzymowski@reply.de::984477be-26c8-4e5a-9d06-d6f9dec95ae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eschke Robert" initials="JR" lastIdx="2" clrIdx="0">
    <p:extLst>
      <p:ext uri="{19B8F6BF-5375-455C-9EA6-DF929625EA0E}">
        <p15:presenceInfo xmlns:p15="http://schemas.microsoft.com/office/powerpoint/2012/main" userId="S::r.jaeschke@reply.de::39d8a4b2-d733-4433-988e-492bfaa0cdc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455"/>
    <a:srgbClr val="505272"/>
    <a:srgbClr val="8D8EA9"/>
    <a:srgbClr val="CCCDD8"/>
    <a:srgbClr val="505273"/>
    <a:srgbClr val="4E4E86"/>
    <a:srgbClr val="7076AC"/>
    <a:srgbClr val="B0B4DD"/>
    <a:srgbClr val="B1B2C4"/>
    <a:srgbClr val="878B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0" y="108"/>
      </p:cViewPr>
      <p:guideLst>
        <p:guide orient="horz" pos="1797"/>
        <p:guide pos="19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C3EA9E-6BDC-4A79-AFF7-99C44CB824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7F4F1B-A484-48CA-949E-C54FAD24AC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440642-083C-45F1-96AE-6C40D1428CD6}" type="datetimeFigureOut">
              <a:rPr lang="en-GB" smtClean="0"/>
              <a:t>16/04/2025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CCD8-E031-4ADB-97E6-0462DC70D0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4311C-44CC-49A8-A38C-3C038F976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2F52F-549D-4565-87BA-A1055EB5B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889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2F1A5-1147-44AA-941C-401C9E3002E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Modifica gli stili del testo dello schema</a:t>
            </a:r>
          </a:p>
          <a:p>
            <a:pPr lvl="1"/>
            <a:r>
              <a:rPr lang="en-US"/>
              <a:t>Secondo livello</a:t>
            </a:r>
          </a:p>
          <a:p>
            <a:pPr lvl="2"/>
            <a:r>
              <a:rPr lang="en-US"/>
              <a:t>Terzo livello</a:t>
            </a:r>
          </a:p>
          <a:p>
            <a:pPr lvl="3"/>
            <a:r>
              <a:rPr lang="en-US"/>
              <a:t>Quarto livello</a:t>
            </a:r>
          </a:p>
          <a:p>
            <a:pPr lvl="4"/>
            <a:r>
              <a:rPr lang="en-US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3249D-E364-4AF9-8113-7FC01C784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4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5.emf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4.emf"/><Relationship Id="rId2" Type="http://schemas.openxmlformats.org/officeDocument/2006/relationships/tags" Target="../tags/tag4.xml"/><Relationship Id="rId16" Type="http://schemas.openxmlformats.org/officeDocument/2006/relationships/oleObject" Target="../embeddings/oleObject2.bin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06D543E-D962-81CC-7077-BE8ECC953509}"/>
              </a:ext>
            </a:extLst>
          </p:cNvPr>
          <p:cNvSpPr/>
          <p:nvPr userDrawn="1"/>
        </p:nvSpPr>
        <p:spPr>
          <a:xfrm flipH="1">
            <a:off x="-141768" y="-155944"/>
            <a:ext cx="4811267" cy="7208874"/>
          </a:xfrm>
          <a:prstGeom prst="rect">
            <a:avLst/>
          </a:prstGeom>
          <a:solidFill>
            <a:srgbClr val="2BAA5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7DEEF2-CB40-B34B-E1EF-15A72715431E}"/>
              </a:ext>
            </a:extLst>
          </p:cNvPr>
          <p:cNvSpPr/>
          <p:nvPr userDrawn="1"/>
        </p:nvSpPr>
        <p:spPr>
          <a:xfrm>
            <a:off x="4881745" y="1494138"/>
            <a:ext cx="6932989" cy="1482275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6700">
              <a:spcAft>
                <a:spcPts val="600"/>
              </a:spcAft>
            </a:pPr>
            <a:r>
              <a:rPr lang="en-GB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INITIAL SITUATION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44134E-2AE8-A301-D417-77DF4C870EE3}"/>
              </a:ext>
            </a:extLst>
          </p:cNvPr>
          <p:cNvSpPr/>
          <p:nvPr userDrawn="1"/>
        </p:nvSpPr>
        <p:spPr>
          <a:xfrm>
            <a:off x="4881745" y="3057563"/>
            <a:ext cx="6932989" cy="1482275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6700">
              <a:spcAft>
                <a:spcPts val="600"/>
              </a:spcAft>
            </a:pPr>
            <a:r>
              <a:rPr lang="en-GB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CHALLENGES</a:t>
            </a:r>
            <a:endParaRPr lang="en-GB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192718-28FB-C627-3550-310A18ADB963}"/>
              </a:ext>
            </a:extLst>
          </p:cNvPr>
          <p:cNvSpPr/>
          <p:nvPr userDrawn="1"/>
        </p:nvSpPr>
        <p:spPr>
          <a:xfrm>
            <a:off x="4881745" y="4620989"/>
            <a:ext cx="6932989" cy="1482275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66700">
              <a:spcAft>
                <a:spcPts val="600"/>
              </a:spcAft>
            </a:pPr>
            <a:r>
              <a:rPr lang="en-GB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APPROACH AND TECHNOLOGIES</a:t>
            </a:r>
          </a:p>
          <a:p>
            <a:endParaRPr lang="en-GB" b="1">
              <a:solidFill>
                <a:srgbClr val="40404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8E2227-7AE6-2581-785B-FAD319314F7F}"/>
              </a:ext>
            </a:extLst>
          </p:cNvPr>
          <p:cNvSpPr/>
          <p:nvPr userDrawn="1"/>
        </p:nvSpPr>
        <p:spPr>
          <a:xfrm>
            <a:off x="377266" y="4096335"/>
            <a:ext cx="1806016" cy="318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sz="1600" b="1">
                <a:solidFill>
                  <a:schemeClr val="tx2"/>
                </a:solidFill>
              </a:rPr>
              <a:t>VALUE ADDED</a:t>
            </a:r>
          </a:p>
        </p:txBody>
      </p:sp>
      <p:pic>
        <p:nvPicPr>
          <p:cNvPr id="30" name="Graphic 29" descr="Diamond with solid fill">
            <a:extLst>
              <a:ext uri="{FF2B5EF4-FFF2-40B4-BE49-F238E27FC236}">
                <a16:creationId xmlns:a16="http://schemas.microsoft.com/office/drawing/2014/main" id="{7605B176-65F9-F618-3E0E-6C5C29E656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" y="4534394"/>
            <a:ext cx="432000" cy="432000"/>
          </a:xfrm>
          <a:prstGeom prst="rect">
            <a:avLst/>
          </a:prstGeom>
        </p:spPr>
      </p:pic>
      <p:pic>
        <p:nvPicPr>
          <p:cNvPr id="33" name="Graphic 32" descr="Coins with solid fill">
            <a:extLst>
              <a:ext uri="{FF2B5EF4-FFF2-40B4-BE49-F238E27FC236}">
                <a16:creationId xmlns:a16="http://schemas.microsoft.com/office/drawing/2014/main" id="{1FDF7E21-7188-0798-0A63-A5998E145E1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650" y="5081241"/>
            <a:ext cx="432000" cy="432000"/>
          </a:xfrm>
          <a:prstGeom prst="rect">
            <a:avLst/>
          </a:prstGeom>
        </p:spPr>
      </p:pic>
      <p:pic>
        <p:nvPicPr>
          <p:cNvPr id="34" name="Graphic 33" descr="Bar graph with upward trend with solid fill">
            <a:extLst>
              <a:ext uri="{FF2B5EF4-FFF2-40B4-BE49-F238E27FC236}">
                <a16:creationId xmlns:a16="http://schemas.microsoft.com/office/drawing/2014/main" id="{6979B3F5-B563-D7BC-AC40-C193E142176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74650" y="5628088"/>
            <a:ext cx="432000" cy="432000"/>
          </a:xfrm>
          <a:prstGeom prst="rect">
            <a:avLst/>
          </a:prstGeom>
        </p:spPr>
      </p:pic>
      <p:pic>
        <p:nvPicPr>
          <p:cNvPr id="37" name="Graphic 36" descr="Magnifying glass with solid fill">
            <a:extLst>
              <a:ext uri="{FF2B5EF4-FFF2-40B4-BE49-F238E27FC236}">
                <a16:creationId xmlns:a16="http://schemas.microsoft.com/office/drawing/2014/main" id="{8651CD68-DF00-D564-CE75-1C83E56B929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920057" y="1540364"/>
            <a:ext cx="252000" cy="252000"/>
          </a:xfrm>
          <a:prstGeom prst="rect">
            <a:avLst/>
          </a:prstGeom>
        </p:spPr>
      </p:pic>
      <p:pic>
        <p:nvPicPr>
          <p:cNvPr id="38" name="Graphic 37" descr="Hurdle with solid fill">
            <a:extLst>
              <a:ext uri="{FF2B5EF4-FFF2-40B4-BE49-F238E27FC236}">
                <a16:creationId xmlns:a16="http://schemas.microsoft.com/office/drawing/2014/main" id="{F9E37177-ADA1-5733-4DB1-13A374508B7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4917459" y="3103501"/>
            <a:ext cx="252000" cy="252000"/>
          </a:xfrm>
          <a:prstGeom prst="rect">
            <a:avLst/>
          </a:prstGeom>
        </p:spPr>
      </p:pic>
      <p:pic>
        <p:nvPicPr>
          <p:cNvPr id="39" name="Graphic 38" descr="Route (Two Pins With A Path) with solid fill">
            <a:extLst>
              <a:ext uri="{FF2B5EF4-FFF2-40B4-BE49-F238E27FC236}">
                <a16:creationId xmlns:a16="http://schemas.microsoft.com/office/drawing/2014/main" id="{11396133-F6B6-C350-1831-4ECFC72B5C9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4917459" y="4677712"/>
            <a:ext cx="252000" cy="252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7606A10-8F0C-4B96-8F0F-38986ED53B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0278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5" imgH="416" progId="TCLayout.ActiveDocument.1">
                  <p:embed/>
                </p:oleObj>
              </mc:Choice>
              <mc:Fallback>
                <p:oleObj name="think-cell Slide" r:id="rId16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7606A10-8F0C-4B96-8F0F-38986ED53B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D7A1DBF-AD07-4E04-96CF-3D15977685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it-IT" sz="1600" b="1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6" name="Title Placeholder 54">
            <a:extLst>
              <a:ext uri="{FF2B5EF4-FFF2-40B4-BE49-F238E27FC236}">
                <a16:creationId xmlns:a16="http://schemas.microsoft.com/office/drawing/2014/main" id="{5887A63D-817F-4DC7-8CDA-56F79EC084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65681" y="397932"/>
            <a:ext cx="11448000" cy="7958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2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 err="1"/>
              <a:t>Actiontitle</a:t>
            </a:r>
            <a:endParaRPr lang="en-US" noProof="0"/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C02F74DA-7E83-4606-87CC-5EB5C7F133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682" y="90049"/>
            <a:ext cx="11448000" cy="201600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0" u="none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>
              <a:defRPr sz="1200" u="none"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>
              <a:defRPr sz="1200" u="none"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>
              <a:defRPr sz="1200" u="none"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>
              <a:defRPr sz="1200" u="none"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Chapter name</a:t>
            </a:r>
          </a:p>
        </p:txBody>
      </p:sp>
      <p:sp>
        <p:nvSpPr>
          <p:cNvPr id="44" name="Inhaltsplatzhalter 35">
            <a:extLst>
              <a:ext uri="{FF2B5EF4-FFF2-40B4-BE49-F238E27FC236}">
                <a16:creationId xmlns:a16="http://schemas.microsoft.com/office/drawing/2014/main" id="{5390D463-F6CC-43D7-81F0-CC42BBE0C8E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5682" y="6356352"/>
            <a:ext cx="5730318" cy="221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64B987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54000" bIns="36000" anchor="b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de-DE" sz="1200" b="0" i="0" u="none" kern="1200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de-DE" dirty="0" smtClean="0"/>
            </a:lvl2pPr>
            <a:lvl3pPr>
              <a:defRPr lang="de-DE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/>
              <a:t>Machine Learning Reply | Client | Date</a:t>
            </a:r>
          </a:p>
        </p:txBody>
      </p:sp>
      <p:pic>
        <p:nvPicPr>
          <p:cNvPr id="4" name="Bild 5">
            <a:extLst>
              <a:ext uri="{FF2B5EF4-FFF2-40B4-BE49-F238E27FC236}">
                <a16:creationId xmlns:a16="http://schemas.microsoft.com/office/drawing/2014/main" id="{A1699198-B406-03A5-DD0C-0CBF8ED248D2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7077" y="6410491"/>
            <a:ext cx="290043" cy="290043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A275C3A2-3D33-2851-B1BA-3D9AEA165BC2}"/>
              </a:ext>
            </a:extLst>
          </p:cNvPr>
          <p:cNvSpPr/>
          <p:nvPr userDrawn="1"/>
        </p:nvSpPr>
        <p:spPr>
          <a:xfrm>
            <a:off x="857416" y="1540364"/>
            <a:ext cx="3043704" cy="20321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6448869E-07D3-BDAB-046C-CD3494D6E7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1302" y="4534394"/>
            <a:ext cx="3517200" cy="442800"/>
          </a:xfrm>
        </p:spPr>
        <p:txBody>
          <a:bodyPr lIns="36000" rIns="3600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1. </a:t>
            </a:r>
            <a:r>
              <a:rPr lang="de-DE" err="1"/>
              <a:t>Added</a:t>
            </a:r>
            <a:r>
              <a:rPr lang="de-DE"/>
              <a:t> Value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D22A489B-CA65-EFD1-00CB-D61C78447D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1302" y="5628088"/>
            <a:ext cx="3517200" cy="442800"/>
          </a:xfrm>
        </p:spPr>
        <p:txBody>
          <a:bodyPr lIns="36000" rIns="3600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3. </a:t>
            </a:r>
            <a:r>
              <a:rPr lang="de-DE" err="1"/>
              <a:t>Added</a:t>
            </a:r>
            <a:r>
              <a:rPr lang="de-DE"/>
              <a:t> Value 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037319D9-B1D7-9F15-A1B4-59F732291F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1302" y="5081241"/>
            <a:ext cx="3517200" cy="442800"/>
          </a:xfrm>
        </p:spPr>
        <p:txBody>
          <a:bodyPr lIns="36000" rIns="36000"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2. </a:t>
            </a:r>
            <a:r>
              <a:rPr lang="de-DE" err="1"/>
              <a:t>Added</a:t>
            </a:r>
            <a:r>
              <a:rPr lang="de-DE"/>
              <a:t> Value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68774ED4-0D01-C3F6-DC5F-05954AC685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9519" y="1879095"/>
            <a:ext cx="6764161" cy="1012110"/>
          </a:xfrm>
        </p:spPr>
        <p:txBody>
          <a:bodyPr lIns="0" rIns="90000"/>
          <a:lstStyle>
            <a:lvl1pPr marL="171450" indent="-171450">
              <a:spcBef>
                <a:spcPts val="0"/>
              </a:spcBef>
              <a:buFont typeface="Wingdings" pitchFamily="2" charset="2"/>
              <a:buChar char="§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de-DE"/>
              <a:t>Text Input</a:t>
            </a:r>
          </a:p>
          <a:p>
            <a:pPr lvl="0"/>
            <a:endParaRPr lang="de-DE"/>
          </a:p>
          <a:p>
            <a:pPr lvl="0"/>
            <a:endParaRPr lang="de-DE"/>
          </a:p>
          <a:p>
            <a:pPr lvl="0"/>
            <a:endParaRPr lang="de-DE"/>
          </a:p>
          <a:p>
            <a:pPr lvl="0"/>
            <a:endParaRPr lang="de-DE"/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FF734395-1D4D-2B73-6DFC-CC18574833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49519" y="5017986"/>
            <a:ext cx="6764161" cy="1012110"/>
          </a:xfrm>
        </p:spPr>
        <p:txBody>
          <a:bodyPr lIns="0" rIns="90000"/>
          <a:lstStyle>
            <a:lvl1pPr marL="171450" indent="-171450">
              <a:spcBef>
                <a:spcPts val="0"/>
              </a:spcBef>
              <a:buFont typeface="Wingdings" pitchFamily="2" charset="2"/>
              <a:buChar char="§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de-DE"/>
              <a:t>Text Input </a:t>
            </a: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DB7E23ED-611C-7315-68BC-2515C0B7D3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49519" y="3446937"/>
            <a:ext cx="6764161" cy="1012110"/>
          </a:xfrm>
        </p:spPr>
        <p:txBody>
          <a:bodyPr lIns="0" rIns="90000"/>
          <a:lstStyle>
            <a:lvl1pPr marL="171450" indent="-171450">
              <a:spcBef>
                <a:spcPts val="0"/>
              </a:spcBef>
              <a:buFont typeface="Wingdings" pitchFamily="2" charset="2"/>
              <a:buChar char="§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de-DE"/>
              <a:t>Text Input </a:t>
            </a:r>
          </a:p>
        </p:txBody>
      </p:sp>
      <p:pic>
        <p:nvPicPr>
          <p:cNvPr id="5" name="Picture 4" descr="A picture containing text, electronics, display, screenshot&#10;&#10;Description automatically generated">
            <a:extLst>
              <a:ext uri="{FF2B5EF4-FFF2-40B4-BE49-F238E27FC236}">
                <a16:creationId xmlns:a16="http://schemas.microsoft.com/office/drawing/2014/main" id="{1672C262-1486-ED63-707D-43BF2C4AE7E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17" y="1494139"/>
            <a:ext cx="4013507" cy="2429227"/>
          </a:xfrm>
          <a:prstGeom prst="rect">
            <a:avLst/>
          </a:prstGeom>
        </p:spPr>
      </p:pic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780AA19E-9285-63B9-2E8B-F75BE6DDCCAA}"/>
              </a:ext>
            </a:extLst>
          </p:cNvPr>
          <p:cNvSpPr txBox="1">
            <a:spLocks/>
          </p:cNvSpPr>
          <p:nvPr userDrawn="1"/>
        </p:nvSpPr>
        <p:spPr>
          <a:xfrm>
            <a:off x="9083117" y="6356353"/>
            <a:ext cx="2327833" cy="2218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609585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966009-6E5A-4F8C-8CA7-E37AFBF5FB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811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DD7524CE-3AE0-6542-AC7B-2351B4E066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46120685"/>
              </p:ext>
            </p:ext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DD7524CE-3AE0-6542-AC7B-2351B4E066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</p:spPr>
        <p:txBody>
          <a:bodyPr vert="horz" lIns="0" tIns="45720" rIns="91440" bIns="0" rtlCol="0" anchor="t">
            <a:noAutofit/>
          </a:bodyPr>
          <a:lstStyle/>
          <a:p>
            <a:r>
              <a:rPr lang="it-IT"/>
              <a:t>Click to </a:t>
            </a:r>
            <a:r>
              <a:rPr lang="it-IT" err="1"/>
              <a:t>change</a:t>
            </a:r>
            <a:r>
              <a:rPr lang="it-IT"/>
              <a:t>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35709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Basic text</a:t>
            </a:r>
          </a:p>
          <a:p>
            <a:pPr lvl="1"/>
            <a:r>
              <a:rPr lang="it-IT"/>
              <a:t>Text in CAPITAL </a:t>
            </a:r>
            <a:r>
              <a:rPr lang="it-IT" err="1"/>
              <a:t>LeTTERS</a:t>
            </a:r>
            <a:endParaRPr lang="it-IT"/>
          </a:p>
          <a:p>
            <a:pPr lvl="3"/>
            <a:r>
              <a:rPr lang="it-IT"/>
              <a:t>First bullet point text</a:t>
            </a:r>
          </a:p>
          <a:p>
            <a:pPr lvl="4"/>
            <a:r>
              <a:rPr lang="it-IT"/>
              <a:t>Second bullet point text</a:t>
            </a:r>
          </a:p>
          <a:p>
            <a:pPr lvl="5"/>
            <a:r>
              <a:rPr lang="it-IT"/>
              <a:t>Third bullet point text</a:t>
            </a:r>
          </a:p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56379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lvl1pPr algn="l" defTabSz="1219170" rtl="0" eaLnBrk="1" latinLnBrk="0" hangingPunct="1">
        <a:lnSpc>
          <a:spcPct val="80000"/>
        </a:lnSpc>
        <a:spcBef>
          <a:spcPct val="0"/>
        </a:spcBef>
        <a:buNone/>
        <a:defRPr sz="4267" kern="1200">
          <a:solidFill>
            <a:schemeClr val="tx1"/>
          </a:solidFill>
          <a:latin typeface="Arial Black" panose="020B0A04020102020204" pitchFamily="34" charset="0"/>
          <a:ea typeface="+mj-ea"/>
          <a:cs typeface="Arial Black" panose="020B0A04020102020204" pitchFamily="34" charset="0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buFont typeface="Arial" pitchFamily="34" charset="0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219170" rtl="0" eaLnBrk="1" latinLnBrk="0" hangingPunct="1">
        <a:lnSpc>
          <a:spcPct val="100000"/>
        </a:lnSpc>
        <a:spcBef>
          <a:spcPts val="1600"/>
        </a:spcBef>
        <a:spcAft>
          <a:spcPts val="800"/>
        </a:spcAft>
        <a:buFont typeface="Arial" pitchFamily="34" charset="0"/>
        <a:buNone/>
        <a:defRPr sz="2400" b="0" i="0" kern="1200" cap="all">
          <a:solidFill>
            <a:schemeClr val="tx1"/>
          </a:solidFill>
          <a:latin typeface="Arial"/>
          <a:ea typeface="+mn-ea"/>
          <a:cs typeface="Arial"/>
        </a:defRPr>
      </a:lvl2pPr>
      <a:lvl3pPr marL="0" indent="0" algn="l" defTabSz="1219170" rtl="0" eaLnBrk="1" latinLnBrk="0" hangingPunct="1">
        <a:lnSpc>
          <a:spcPct val="120000"/>
        </a:lnSpc>
        <a:spcBef>
          <a:spcPts val="800"/>
        </a:spcBef>
        <a:buFont typeface="Arial" pitchFamily="34" charset="0"/>
        <a:buNone/>
        <a:defRPr sz="1867" b="0" i="0" kern="1200">
          <a:solidFill>
            <a:schemeClr val="tx2"/>
          </a:solidFill>
          <a:latin typeface="Arial"/>
          <a:ea typeface="+mn-ea"/>
          <a:cs typeface="Arial"/>
        </a:defRPr>
      </a:lvl3pPr>
      <a:lvl4pPr marL="239994" indent="-239994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SzPct val="13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479988" indent="-239994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479988" indent="0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Font typeface="Wingdings" panose="05000000000000000000" pitchFamily="2" charset="2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SzPct val="59000"/>
        <a:buFont typeface="+mj-lt"/>
        <a:buNone/>
        <a:defRPr lang="it-IT" sz="2400" kern="1200" baseline="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239994" indent="0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Font typeface="+mj-lt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719982" indent="-239994" algn="l" defTabSz="1219170" rtl="0" eaLnBrk="1" latinLnBrk="0" hangingPunct="1">
        <a:lnSpc>
          <a:spcPct val="120000"/>
        </a:lnSpc>
        <a:spcBef>
          <a:spcPts val="800"/>
        </a:spcBef>
        <a:buClr>
          <a:schemeClr val="tx1"/>
        </a:buClr>
        <a:buFont typeface="+mj-lt"/>
        <a:buAutoNum type="arabicPeriod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7446">
          <p15:clr>
            <a:srgbClr val="F26B43"/>
          </p15:clr>
        </p15:guide>
        <p15:guide id="3" orient="horz" pos="799">
          <p15:clr>
            <a:srgbClr val="F26B43"/>
          </p15:clr>
        </p15:guide>
        <p15:guide id="4" orient="horz" pos="3974">
          <p15:clr>
            <a:srgbClr val="F26B43"/>
          </p15:clr>
        </p15:guide>
        <p15:guide id="6" orient="horz" pos="2387">
          <p15:clr>
            <a:srgbClr val="F26B43"/>
          </p15:clr>
        </p15:guide>
        <p15:guide id="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jectTitle">
            <a:extLst>
              <a:ext uri="{FF2B5EF4-FFF2-40B4-BE49-F238E27FC236}">
                <a16:creationId xmlns:a16="http://schemas.microsoft.com/office/drawing/2014/main" id="{0B967C39-9E0C-BAB6-92F9-747F28A2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Customer segmentation is the base for use cases to support customers’ decision-process positively</a:t>
            </a:r>
            <a:endParaRPr lang="en-GB" dirty="0"/>
          </a:p>
        </p:txBody>
      </p:sp>
      <p:sp>
        <p:nvSpPr>
          <p:cNvPr id="4" name="ProjectID">
            <a:extLst>
              <a:ext uri="{FF2B5EF4-FFF2-40B4-BE49-F238E27FC236}">
                <a16:creationId xmlns:a16="http://schemas.microsoft.com/office/drawing/2014/main" id="{080A488A-C66C-59E3-42A1-B467E87506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ID0002 </a:t>
            </a:r>
            <a:r>
              <a:rPr kumimoji="0" lang="en-GB" sz="1500" b="0" i="0" u="none" strike="noStrike" kern="1200" cap="none" spc="0" normalizeH="0" baseline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– 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</a:rPr>
              <a:t>References</a:t>
            </a:r>
            <a:endParaRPr kumimoji="0" lang="en-GB" sz="1600" b="0" i="0" u="none" strike="noStrike" kern="1200" cap="none" spc="0" normalizeH="0" baseline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</a:endParaRPr>
          </a:p>
          <a:p>
            <a:endParaRPr lang="en-GB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CD4A8C5-658D-8E01-12BF-1D7C2785107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/>
              <a:t>Reply</a:t>
            </a:r>
          </a:p>
        </p:txBody>
      </p:sp>
      <p:sp>
        <p:nvSpPr>
          <p:cNvPr id="6" name="DiamondText">
            <a:extLst>
              <a:ext uri="{FF2B5EF4-FFF2-40B4-BE49-F238E27FC236}">
                <a16:creationId xmlns:a16="http://schemas.microsoft.com/office/drawing/2014/main" id="{8D64AFEB-3E04-C7FB-AF73-F54099626C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Enhanced customer lifecycle management through advanced segmentation</a:t>
            </a:r>
          </a:p>
          <a:p>
            <a:endParaRPr lang="en-GB" dirty="0"/>
          </a:p>
        </p:txBody>
      </p:sp>
      <p:sp>
        <p:nvSpPr>
          <p:cNvPr id="7" name="GraphText">
            <a:extLst>
              <a:ext uri="{FF2B5EF4-FFF2-40B4-BE49-F238E27FC236}">
                <a16:creationId xmlns:a16="http://schemas.microsoft.com/office/drawing/2014/main" id="{0D5685A2-8B59-9D20-79FB-7EC620618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Improved ROI on marketing campaigns utilizing data-driven insights</a:t>
            </a:r>
          </a:p>
          <a:p>
            <a:endParaRPr lang="en-GB" dirty="0"/>
          </a:p>
        </p:txBody>
      </p:sp>
      <p:sp>
        <p:nvSpPr>
          <p:cNvPr id="8" name="MoneyText">
            <a:extLst>
              <a:ext uri="{FF2B5EF4-FFF2-40B4-BE49-F238E27FC236}">
                <a16:creationId xmlns:a16="http://schemas.microsoft.com/office/drawing/2014/main" id="{C895571B-A082-2DED-8856-BFD31CCA29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Identification of high-value customers leading to increased basket sizes</a:t>
            </a:r>
          </a:p>
          <a:p>
            <a:endParaRPr lang="en-GB" dirty="0"/>
          </a:p>
        </p:txBody>
      </p:sp>
      <p:sp>
        <p:nvSpPr>
          <p:cNvPr id="9" name="InitialSituation">
            <a:extLst>
              <a:ext uri="{FF2B5EF4-FFF2-40B4-BE49-F238E27FC236}">
                <a16:creationId xmlns:a16="http://schemas.microsoft.com/office/drawing/2014/main" id="{73BA8B6C-0C14-030B-26DC-47BA15D683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Consumer interactions were not fully recognized across all platforms, missing crucial data points in the customer journey</a:t>
            </a:r>
          </a:p>
          <a:p>
            <a:r>
              <a:rPr lang="en-GB" dirty="0"/>
              <a:t>There was a necessity to leverage the full potential of customer lifecycle data to inform business strategies</a:t>
            </a:r>
          </a:p>
          <a:p>
            <a:endParaRPr lang="en-GB" dirty="0"/>
          </a:p>
        </p:txBody>
      </p:sp>
      <p:sp>
        <p:nvSpPr>
          <p:cNvPr id="10" name="ApproachTechnologies">
            <a:extLst>
              <a:ext uri="{FF2B5EF4-FFF2-40B4-BE49-F238E27FC236}">
                <a16:creationId xmlns:a16="http://schemas.microsoft.com/office/drawing/2014/main" id="{22745127-59F6-83C8-28A7-1C636F6FE8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Predictive analytics was employed to refine customer segmentation, taking into account interaction frequency, monetary value, and product categories</a:t>
            </a:r>
          </a:p>
          <a:p>
            <a:r>
              <a:rPr lang="en-GB"/>
              <a:t>This enabled the tailoring of marketing campaigns more precisely, significantly improving consumer engagement and purchasing </a:t>
            </a:r>
            <a:r>
              <a:rPr lang="en-GB" err="1"/>
              <a:t>behavior</a:t>
            </a:r>
            <a:endParaRPr lang="en-GB"/>
          </a:p>
        </p:txBody>
      </p:sp>
      <p:sp>
        <p:nvSpPr>
          <p:cNvPr id="11" name="Challenges">
            <a:extLst>
              <a:ext uri="{FF2B5EF4-FFF2-40B4-BE49-F238E27FC236}">
                <a16:creationId xmlns:a16="http://schemas.microsoft.com/office/drawing/2014/main" id="{D4D968E7-DF0B-3C89-D8D9-FA9EAE11B5F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/>
              <a:t>The primary goal was to identify and target high-value customers effectively to increase their average basket size</a:t>
            </a:r>
          </a:p>
          <a:p>
            <a:r>
              <a:rPr lang="en-GB"/>
              <a:t>There was a need to overcome the limitations of traditional segmentation by adopting a more predictive analytics approach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646D0B21-F8C2-BDCB-2A9C-451509114C37}"/>
              </a:ext>
            </a:extLst>
          </p:cNvPr>
          <p:cNvGrpSpPr/>
          <p:nvPr/>
        </p:nvGrpSpPr>
        <p:grpSpPr>
          <a:xfrm>
            <a:off x="693829" y="2198802"/>
            <a:ext cx="3476940" cy="1012509"/>
            <a:chOff x="6507861" y="2561583"/>
            <a:chExt cx="5162131" cy="1232316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CFE9309D-4FCB-9BAA-B1F7-BA9C215779D8}"/>
                </a:ext>
              </a:extLst>
            </p:cNvPr>
            <p:cNvGrpSpPr/>
            <p:nvPr/>
          </p:nvGrpSpPr>
          <p:grpSpPr>
            <a:xfrm>
              <a:off x="6846863" y="2831951"/>
              <a:ext cx="4823129" cy="885655"/>
              <a:chOff x="6846863" y="2831951"/>
              <a:chExt cx="4823129" cy="885655"/>
            </a:xfrm>
          </p:grpSpPr>
          <p:grpSp>
            <p:nvGrpSpPr>
              <p:cNvPr id="15" name="Group 66">
                <a:extLst>
                  <a:ext uri="{FF2B5EF4-FFF2-40B4-BE49-F238E27FC236}">
                    <a16:creationId xmlns:a16="http://schemas.microsoft.com/office/drawing/2014/main" id="{EB4A2B0C-BCEA-E324-D682-AE2F44D592C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846863" y="2831951"/>
                <a:ext cx="4333592" cy="729400"/>
                <a:chOff x="6262914" y="2951964"/>
                <a:chExt cx="3860801" cy="629669"/>
              </a:xfrm>
              <a:solidFill>
                <a:schemeClr val="tx2">
                  <a:lumMod val="20000"/>
                  <a:lumOff val="80000"/>
                </a:schemeClr>
              </a:solidFill>
            </p:grpSpPr>
            <p:grpSp>
              <p:nvGrpSpPr>
                <p:cNvPr id="17" name="Group 71">
                  <a:extLst>
                    <a:ext uri="{FF2B5EF4-FFF2-40B4-BE49-F238E27FC236}">
                      <a16:creationId xmlns:a16="http://schemas.microsoft.com/office/drawing/2014/main" id="{E46B5A67-50F8-A557-F145-319647ECB771}"/>
                    </a:ext>
                  </a:extLst>
                </p:cNvPr>
                <p:cNvGrpSpPr/>
                <p:nvPr/>
              </p:nvGrpSpPr>
              <p:grpSpPr>
                <a:xfrm>
                  <a:off x="6262914" y="3429000"/>
                  <a:ext cx="3860801" cy="152633"/>
                  <a:chOff x="6262914" y="3429000"/>
                  <a:chExt cx="3860801" cy="152633"/>
                </a:xfrm>
                <a:grpFill/>
              </p:grpSpPr>
              <p:sp>
                <p:nvSpPr>
                  <p:cNvPr id="33" name="Rectangle 93">
                    <a:extLst>
                      <a:ext uri="{FF2B5EF4-FFF2-40B4-BE49-F238E27FC236}">
                        <a16:creationId xmlns:a16="http://schemas.microsoft.com/office/drawing/2014/main" id="{41B96CE8-6E70-A988-66E5-1A6F032A9C91}"/>
                      </a:ext>
                    </a:extLst>
                  </p:cNvPr>
                  <p:cNvSpPr/>
                  <p:nvPr/>
                </p:nvSpPr>
                <p:spPr>
                  <a:xfrm>
                    <a:off x="6262914" y="3429000"/>
                    <a:ext cx="478972" cy="152633"/>
                  </a:xfrm>
                  <a:prstGeom prst="rect">
                    <a:avLst/>
                  </a:prstGeom>
                  <a:grpFill/>
                  <a:ln w="12700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Montserrat Light"/>
                        <a:ea typeface="+mn-ea"/>
                        <a:cs typeface="Arial" panose="020B0604020202020204" pitchFamily="34" charset="0"/>
                      </a:rPr>
                      <a:t>Awareness</a:t>
                    </a:r>
                  </a:p>
                </p:txBody>
              </p:sp>
              <p:sp>
                <p:nvSpPr>
                  <p:cNvPr id="34" name="Rectangle 94">
                    <a:extLst>
                      <a:ext uri="{FF2B5EF4-FFF2-40B4-BE49-F238E27FC236}">
                        <a16:creationId xmlns:a16="http://schemas.microsoft.com/office/drawing/2014/main" id="{C400D1EF-04E8-1019-2D29-C72F4E24D862}"/>
                      </a:ext>
                    </a:extLst>
                  </p:cNvPr>
                  <p:cNvSpPr/>
                  <p:nvPr/>
                </p:nvSpPr>
                <p:spPr>
                  <a:xfrm>
                    <a:off x="6746032" y="3429000"/>
                    <a:ext cx="478972" cy="152633"/>
                  </a:xfrm>
                  <a:prstGeom prst="rect">
                    <a:avLst/>
                  </a:prstGeom>
                  <a:grpFill/>
                  <a:ln w="12700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Montserrat Light"/>
                        <a:ea typeface="+mn-ea"/>
                        <a:cs typeface="Arial" panose="020B0604020202020204" pitchFamily="34" charset="0"/>
                      </a:rPr>
                      <a:t>Education</a:t>
                    </a:r>
                  </a:p>
                </p:txBody>
              </p:sp>
              <p:sp>
                <p:nvSpPr>
                  <p:cNvPr id="35" name="Rectangle 95">
                    <a:extLst>
                      <a:ext uri="{FF2B5EF4-FFF2-40B4-BE49-F238E27FC236}">
                        <a16:creationId xmlns:a16="http://schemas.microsoft.com/office/drawing/2014/main" id="{B458D666-5467-9FCE-865D-802E8DAFA549}"/>
                      </a:ext>
                    </a:extLst>
                  </p:cNvPr>
                  <p:cNvSpPr/>
                  <p:nvPr/>
                </p:nvSpPr>
                <p:spPr>
                  <a:xfrm>
                    <a:off x="7229150" y="3429000"/>
                    <a:ext cx="478972" cy="152633"/>
                  </a:xfrm>
                  <a:prstGeom prst="rect">
                    <a:avLst/>
                  </a:prstGeom>
                  <a:grpFill/>
                  <a:ln w="12700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  <a:miter lim="800000"/>
                  </a:ln>
                  <a:effectLst/>
                </p:spPr>
                <p:txBody>
                  <a:bodyPr lIns="36000"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Montserrat Light"/>
                        <a:ea typeface="+mn-ea"/>
                        <a:cs typeface="Arial" panose="020B0604020202020204" pitchFamily="34" charset="0"/>
                      </a:rPr>
                      <a:t>Consideration</a:t>
                    </a:r>
                  </a:p>
                </p:txBody>
              </p:sp>
              <p:sp>
                <p:nvSpPr>
                  <p:cNvPr id="36" name="Rectangle 96">
                    <a:extLst>
                      <a:ext uri="{FF2B5EF4-FFF2-40B4-BE49-F238E27FC236}">
                        <a16:creationId xmlns:a16="http://schemas.microsoft.com/office/drawing/2014/main" id="{A1B3396A-5A14-04FC-58F5-FD0E8692A73C}"/>
                      </a:ext>
                    </a:extLst>
                  </p:cNvPr>
                  <p:cNvSpPr/>
                  <p:nvPr/>
                </p:nvSpPr>
                <p:spPr>
                  <a:xfrm>
                    <a:off x="7712268" y="3429000"/>
                    <a:ext cx="478972" cy="152633"/>
                  </a:xfrm>
                  <a:prstGeom prst="rect">
                    <a:avLst/>
                  </a:prstGeom>
                  <a:grpFill/>
                  <a:ln w="12700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Montserrat Light"/>
                        <a:ea typeface="+mn-ea"/>
                        <a:cs typeface="Arial" panose="020B0604020202020204" pitchFamily="34" charset="0"/>
                      </a:rPr>
                      <a:t>Purchase</a:t>
                    </a:r>
                  </a:p>
                </p:txBody>
              </p:sp>
              <p:sp>
                <p:nvSpPr>
                  <p:cNvPr id="37" name="Rectangle 97">
                    <a:extLst>
                      <a:ext uri="{FF2B5EF4-FFF2-40B4-BE49-F238E27FC236}">
                        <a16:creationId xmlns:a16="http://schemas.microsoft.com/office/drawing/2014/main" id="{F0CF4772-562C-5866-43DA-0984CD273A58}"/>
                      </a:ext>
                    </a:extLst>
                  </p:cNvPr>
                  <p:cNvSpPr/>
                  <p:nvPr/>
                </p:nvSpPr>
                <p:spPr>
                  <a:xfrm>
                    <a:off x="8195386" y="3429000"/>
                    <a:ext cx="478972" cy="152633"/>
                  </a:xfrm>
                  <a:prstGeom prst="rect">
                    <a:avLst/>
                  </a:prstGeom>
                  <a:grpFill/>
                  <a:ln w="12700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Montserrat Light"/>
                        <a:ea typeface="+mn-ea"/>
                        <a:cs typeface="Arial" panose="020B0604020202020204" pitchFamily="34" charset="0"/>
                      </a:rPr>
                      <a:t>Adoption</a:t>
                    </a:r>
                  </a:p>
                </p:txBody>
              </p:sp>
              <p:sp>
                <p:nvSpPr>
                  <p:cNvPr id="38" name="Rectangle 98">
                    <a:extLst>
                      <a:ext uri="{FF2B5EF4-FFF2-40B4-BE49-F238E27FC236}">
                        <a16:creationId xmlns:a16="http://schemas.microsoft.com/office/drawing/2014/main" id="{D676D0EB-E47E-E533-108B-417E72EF840B}"/>
                      </a:ext>
                    </a:extLst>
                  </p:cNvPr>
                  <p:cNvSpPr/>
                  <p:nvPr/>
                </p:nvSpPr>
                <p:spPr>
                  <a:xfrm>
                    <a:off x="8678504" y="3429000"/>
                    <a:ext cx="478972" cy="152633"/>
                  </a:xfrm>
                  <a:prstGeom prst="rect">
                    <a:avLst/>
                  </a:prstGeom>
                  <a:grpFill/>
                  <a:ln w="12700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Montserrat Light"/>
                        <a:ea typeface="+mn-ea"/>
                        <a:cs typeface="Arial" panose="020B0604020202020204" pitchFamily="34" charset="0"/>
                      </a:rPr>
                      <a:t>Retention</a:t>
                    </a:r>
                  </a:p>
                </p:txBody>
              </p:sp>
              <p:sp>
                <p:nvSpPr>
                  <p:cNvPr id="39" name="Rectangle 99">
                    <a:extLst>
                      <a:ext uri="{FF2B5EF4-FFF2-40B4-BE49-F238E27FC236}">
                        <a16:creationId xmlns:a16="http://schemas.microsoft.com/office/drawing/2014/main" id="{BD51DF40-BD5B-A09B-D590-6CE5BBF1C1D9}"/>
                      </a:ext>
                    </a:extLst>
                  </p:cNvPr>
                  <p:cNvSpPr/>
                  <p:nvPr/>
                </p:nvSpPr>
                <p:spPr>
                  <a:xfrm>
                    <a:off x="9161622" y="3429000"/>
                    <a:ext cx="478972" cy="152633"/>
                  </a:xfrm>
                  <a:prstGeom prst="rect">
                    <a:avLst/>
                  </a:prstGeom>
                  <a:grpFill/>
                  <a:ln w="12700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Montserrat Light"/>
                        <a:ea typeface="+mn-ea"/>
                        <a:cs typeface="Arial" panose="020B0604020202020204" pitchFamily="34" charset="0"/>
                      </a:rPr>
                      <a:t>Expansion</a:t>
                    </a:r>
                  </a:p>
                </p:txBody>
              </p:sp>
              <p:sp>
                <p:nvSpPr>
                  <p:cNvPr id="40" name="Rectangle 102">
                    <a:extLst>
                      <a:ext uri="{FF2B5EF4-FFF2-40B4-BE49-F238E27FC236}">
                        <a16:creationId xmlns:a16="http://schemas.microsoft.com/office/drawing/2014/main" id="{9DE860FC-C1AF-026C-8AF3-0E115EFFB089}"/>
                      </a:ext>
                    </a:extLst>
                  </p:cNvPr>
                  <p:cNvSpPr/>
                  <p:nvPr/>
                </p:nvSpPr>
                <p:spPr>
                  <a:xfrm>
                    <a:off x="9644743" y="3429000"/>
                    <a:ext cx="478972" cy="152633"/>
                  </a:xfrm>
                  <a:prstGeom prst="rect">
                    <a:avLst/>
                  </a:prstGeom>
                  <a:grpFill/>
                  <a:ln w="12700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400" b="0" i="0" u="none" strike="noStrike" kern="0" cap="none" spc="0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Montserrat Light"/>
                        <a:ea typeface="+mn-ea"/>
                        <a:cs typeface="Arial" panose="020B0604020202020204" pitchFamily="34" charset="0"/>
                      </a:rPr>
                      <a:t>Advocacy</a:t>
                    </a:r>
                  </a:p>
                </p:txBody>
              </p:sp>
            </p:grpSp>
            <p:sp>
              <p:nvSpPr>
                <p:cNvPr id="18" name="Oval 36">
                  <a:extLst>
                    <a:ext uri="{FF2B5EF4-FFF2-40B4-BE49-F238E27FC236}">
                      <a16:creationId xmlns:a16="http://schemas.microsoft.com/office/drawing/2014/main" id="{E2197E5A-FA38-276A-D0BB-5B766EC2C4B0}"/>
                    </a:ext>
                  </a:extLst>
                </p:cNvPr>
                <p:cNvSpPr/>
                <p:nvPr/>
              </p:nvSpPr>
              <p:spPr>
                <a:xfrm>
                  <a:off x="6354935" y="3149836"/>
                  <a:ext cx="72000" cy="72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3</a:t>
                  </a:r>
                </a:p>
              </p:txBody>
            </p:sp>
            <p:sp>
              <p:nvSpPr>
                <p:cNvPr id="19" name="Oval 39">
                  <a:extLst>
                    <a:ext uri="{FF2B5EF4-FFF2-40B4-BE49-F238E27FC236}">
                      <a16:creationId xmlns:a16="http://schemas.microsoft.com/office/drawing/2014/main" id="{2AE0AB01-F9A8-8A71-E18B-EDAA22B375A5}"/>
                    </a:ext>
                  </a:extLst>
                </p:cNvPr>
                <p:cNvSpPr/>
                <p:nvPr/>
              </p:nvSpPr>
              <p:spPr>
                <a:xfrm>
                  <a:off x="6499916" y="3230393"/>
                  <a:ext cx="72000" cy="72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6</a:t>
                  </a:r>
                </a:p>
              </p:txBody>
            </p:sp>
            <p:sp>
              <p:nvSpPr>
                <p:cNvPr id="20" name="Oval 41">
                  <a:extLst>
                    <a:ext uri="{FF2B5EF4-FFF2-40B4-BE49-F238E27FC236}">
                      <a16:creationId xmlns:a16="http://schemas.microsoft.com/office/drawing/2014/main" id="{CEEC540A-A6F3-6CF5-B360-E5F3BDEB5F67}"/>
                    </a:ext>
                  </a:extLst>
                </p:cNvPr>
                <p:cNvSpPr/>
                <p:nvPr/>
              </p:nvSpPr>
              <p:spPr>
                <a:xfrm>
                  <a:off x="6581500" y="3079121"/>
                  <a:ext cx="108000" cy="108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1</a:t>
                  </a:r>
                </a:p>
              </p:txBody>
            </p:sp>
            <p:sp>
              <p:nvSpPr>
                <p:cNvPr id="21" name="Oval 42">
                  <a:extLst>
                    <a:ext uri="{FF2B5EF4-FFF2-40B4-BE49-F238E27FC236}">
                      <a16:creationId xmlns:a16="http://schemas.microsoft.com/office/drawing/2014/main" id="{823368A5-14EF-B0AE-9FA2-4A8FD8D619B1}"/>
                    </a:ext>
                  </a:extLst>
                </p:cNvPr>
                <p:cNvSpPr/>
                <p:nvPr/>
              </p:nvSpPr>
              <p:spPr>
                <a:xfrm rot="21313542">
                  <a:off x="6816450" y="3167993"/>
                  <a:ext cx="108000" cy="108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4</a:t>
                  </a:r>
                </a:p>
              </p:txBody>
            </p:sp>
            <p:sp>
              <p:nvSpPr>
                <p:cNvPr id="22" name="Oval 43">
                  <a:extLst>
                    <a:ext uri="{FF2B5EF4-FFF2-40B4-BE49-F238E27FC236}">
                      <a16:creationId xmlns:a16="http://schemas.microsoft.com/office/drawing/2014/main" id="{16560D72-CC87-868F-6A69-5087E2F45F9E}"/>
                    </a:ext>
                  </a:extLst>
                </p:cNvPr>
                <p:cNvSpPr/>
                <p:nvPr/>
              </p:nvSpPr>
              <p:spPr>
                <a:xfrm>
                  <a:off x="6820758" y="2995250"/>
                  <a:ext cx="108000" cy="108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600" b="0" i="0" u="none" strike="noStrike" kern="0" cap="none" spc="0" normalizeH="0" baseline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Montserrat Light"/>
                    <a:ea typeface="+mn-ea"/>
                    <a:cs typeface="Cordia New"/>
                  </a:endParaRPr>
                </a:p>
              </p:txBody>
            </p:sp>
            <p:sp>
              <p:nvSpPr>
                <p:cNvPr id="23" name="Oval 44">
                  <a:extLst>
                    <a:ext uri="{FF2B5EF4-FFF2-40B4-BE49-F238E27FC236}">
                      <a16:creationId xmlns:a16="http://schemas.microsoft.com/office/drawing/2014/main" id="{598105A2-214C-9554-DB32-D2CAA1A6EE3B}"/>
                    </a:ext>
                  </a:extLst>
                </p:cNvPr>
                <p:cNvSpPr/>
                <p:nvPr/>
              </p:nvSpPr>
              <p:spPr>
                <a:xfrm>
                  <a:off x="7221657" y="2951964"/>
                  <a:ext cx="216000" cy="216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7</a:t>
                  </a:r>
                </a:p>
              </p:txBody>
            </p:sp>
            <p:sp>
              <p:nvSpPr>
                <p:cNvPr id="24" name="Oval 45">
                  <a:extLst>
                    <a:ext uri="{FF2B5EF4-FFF2-40B4-BE49-F238E27FC236}">
                      <a16:creationId xmlns:a16="http://schemas.microsoft.com/office/drawing/2014/main" id="{23FEB1EF-969E-88DF-ECE2-2F70A00B9AE9}"/>
                    </a:ext>
                  </a:extLst>
                </p:cNvPr>
                <p:cNvSpPr/>
                <p:nvPr/>
              </p:nvSpPr>
              <p:spPr>
                <a:xfrm>
                  <a:off x="7088564" y="3110329"/>
                  <a:ext cx="144000" cy="144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8</a:t>
                  </a:r>
                </a:p>
              </p:txBody>
            </p:sp>
            <p:sp>
              <p:nvSpPr>
                <p:cNvPr id="25" name="Oval 46">
                  <a:extLst>
                    <a:ext uri="{FF2B5EF4-FFF2-40B4-BE49-F238E27FC236}">
                      <a16:creationId xmlns:a16="http://schemas.microsoft.com/office/drawing/2014/main" id="{9311394C-8E8E-7DD8-65AA-28F3EEDA9FE1}"/>
                    </a:ext>
                  </a:extLst>
                </p:cNvPr>
                <p:cNvSpPr/>
                <p:nvPr/>
              </p:nvSpPr>
              <p:spPr>
                <a:xfrm>
                  <a:off x="7414330" y="3086393"/>
                  <a:ext cx="288000" cy="288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5</a:t>
                  </a:r>
                </a:p>
              </p:txBody>
            </p:sp>
            <p:sp>
              <p:nvSpPr>
                <p:cNvPr id="26" name="Oval 47">
                  <a:extLst>
                    <a:ext uri="{FF2B5EF4-FFF2-40B4-BE49-F238E27FC236}">
                      <a16:creationId xmlns:a16="http://schemas.microsoft.com/office/drawing/2014/main" id="{CECD5852-9694-EA47-123C-4500CCE3B0C8}"/>
                    </a:ext>
                  </a:extLst>
                </p:cNvPr>
                <p:cNvSpPr/>
                <p:nvPr/>
              </p:nvSpPr>
              <p:spPr>
                <a:xfrm>
                  <a:off x="7805989" y="3218784"/>
                  <a:ext cx="108000" cy="108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600" b="0" i="0" u="none" strike="noStrike" kern="0" cap="none" spc="0" normalizeH="0" baseline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Montserrat Light"/>
                    <a:ea typeface="+mn-ea"/>
                    <a:cs typeface="Cordia New"/>
                  </a:endParaRPr>
                </a:p>
              </p:txBody>
            </p:sp>
            <p:sp>
              <p:nvSpPr>
                <p:cNvPr id="27" name="Oval 48">
                  <a:extLst>
                    <a:ext uri="{FF2B5EF4-FFF2-40B4-BE49-F238E27FC236}">
                      <a16:creationId xmlns:a16="http://schemas.microsoft.com/office/drawing/2014/main" id="{A56A46D4-CFE4-8F7D-CB2C-DB7052C7A6C3}"/>
                    </a:ext>
                  </a:extLst>
                </p:cNvPr>
                <p:cNvSpPr/>
                <p:nvPr/>
              </p:nvSpPr>
              <p:spPr>
                <a:xfrm>
                  <a:off x="7856270" y="3043042"/>
                  <a:ext cx="108000" cy="108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9</a:t>
                  </a:r>
                </a:p>
              </p:txBody>
            </p:sp>
            <p:sp>
              <p:nvSpPr>
                <p:cNvPr id="28" name="Oval 49">
                  <a:extLst>
                    <a:ext uri="{FF2B5EF4-FFF2-40B4-BE49-F238E27FC236}">
                      <a16:creationId xmlns:a16="http://schemas.microsoft.com/office/drawing/2014/main" id="{36EA1022-1675-8D3A-FB17-71E338567C03}"/>
                    </a:ext>
                  </a:extLst>
                </p:cNvPr>
                <p:cNvSpPr/>
                <p:nvPr/>
              </p:nvSpPr>
              <p:spPr>
                <a:xfrm>
                  <a:off x="8036622" y="3122393"/>
                  <a:ext cx="216000" cy="216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lIns="0" tIns="45720" rIns="0" bIns="4572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cs typeface="Cordia New"/>
                    </a:rPr>
                    <a:t>11</a:t>
                  </a:r>
                  <a:endParaRPr lang="en-GB" sz="600" b="0" i="0" u="none" strike="noStrike" kern="0" cap="none" spc="0" normalizeH="0" baseline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Montserrat Light"/>
                    <a:cs typeface="Cordia New"/>
                  </a:endParaRPr>
                </a:p>
              </p:txBody>
            </p:sp>
            <p:sp>
              <p:nvSpPr>
                <p:cNvPr id="29" name="Oval 50">
                  <a:extLst>
                    <a:ext uri="{FF2B5EF4-FFF2-40B4-BE49-F238E27FC236}">
                      <a16:creationId xmlns:a16="http://schemas.microsoft.com/office/drawing/2014/main" id="{116E2AE1-2BB5-CFBD-8282-4DC4ADC02167}"/>
                    </a:ext>
                  </a:extLst>
                </p:cNvPr>
                <p:cNvSpPr/>
                <p:nvPr/>
              </p:nvSpPr>
              <p:spPr>
                <a:xfrm>
                  <a:off x="9233419" y="3137400"/>
                  <a:ext cx="72000" cy="72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14</a:t>
                  </a:r>
                </a:p>
              </p:txBody>
            </p:sp>
            <p:sp>
              <p:nvSpPr>
                <p:cNvPr id="30" name="Oval 51">
                  <a:extLst>
                    <a:ext uri="{FF2B5EF4-FFF2-40B4-BE49-F238E27FC236}">
                      <a16:creationId xmlns:a16="http://schemas.microsoft.com/office/drawing/2014/main" id="{48EADD02-9915-CDF7-4957-D3A67E67A7CB}"/>
                    </a:ext>
                  </a:extLst>
                </p:cNvPr>
                <p:cNvSpPr/>
                <p:nvPr/>
              </p:nvSpPr>
              <p:spPr>
                <a:xfrm>
                  <a:off x="8442537" y="2977713"/>
                  <a:ext cx="72000" cy="72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4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12</a:t>
                  </a:r>
                </a:p>
              </p:txBody>
            </p:sp>
            <p:sp>
              <p:nvSpPr>
                <p:cNvPr id="31" name="Oval 52">
                  <a:extLst>
                    <a:ext uri="{FF2B5EF4-FFF2-40B4-BE49-F238E27FC236}">
                      <a16:creationId xmlns:a16="http://schemas.microsoft.com/office/drawing/2014/main" id="{A1066D93-E1FC-D26C-E9CD-8541FAFCBFD7}"/>
                    </a:ext>
                  </a:extLst>
                </p:cNvPr>
                <p:cNvSpPr/>
                <p:nvPr/>
              </p:nvSpPr>
              <p:spPr>
                <a:xfrm>
                  <a:off x="8594937" y="3130113"/>
                  <a:ext cx="72000" cy="72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4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13</a:t>
                  </a:r>
                </a:p>
              </p:txBody>
            </p:sp>
            <p:sp>
              <p:nvSpPr>
                <p:cNvPr id="32" name="Oval 53">
                  <a:extLst>
                    <a:ext uri="{FF2B5EF4-FFF2-40B4-BE49-F238E27FC236}">
                      <a16:creationId xmlns:a16="http://schemas.microsoft.com/office/drawing/2014/main" id="{950C1FA3-C581-5516-AA74-0BCD91C8CC82}"/>
                    </a:ext>
                  </a:extLst>
                </p:cNvPr>
                <p:cNvSpPr/>
                <p:nvPr/>
              </p:nvSpPr>
              <p:spPr>
                <a:xfrm>
                  <a:off x="6933904" y="3076684"/>
                  <a:ext cx="108000" cy="108000"/>
                </a:xfrm>
                <a:prstGeom prst="ellipse">
                  <a:avLst/>
                </a:prstGeom>
                <a:grpFill/>
                <a:ln w="12700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600" b="0" i="0" u="none" strike="noStrike" kern="0" cap="none" spc="0" normalizeH="0" baseline="0">
                      <a:ln>
                        <a:noFill/>
                      </a:ln>
                      <a:solidFill>
                        <a:schemeClr val="accent2"/>
                      </a:solidFill>
                      <a:effectLst/>
                      <a:uLnTx/>
                      <a:uFillTx/>
                      <a:latin typeface="Montserrat Light"/>
                      <a:ea typeface="+mn-ea"/>
                      <a:cs typeface="Cordia New"/>
                    </a:rPr>
                    <a:t>2</a:t>
                  </a:r>
                </a:p>
              </p:txBody>
            </p:sp>
          </p:grpSp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FA15E053-78F4-8297-1BB3-E874210D483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857919" y="3650179"/>
                <a:ext cx="4812073" cy="67427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400"/>
                  </a:spcBef>
                  <a:buClr>
                    <a:srgbClr val="000000"/>
                  </a:buClr>
                  <a:buSzPct val="100000"/>
                </a:pPr>
                <a:r>
                  <a:rPr lang="en-GB" sz="400">
                    <a:solidFill>
                      <a:schemeClr val="accent1"/>
                    </a:solidFill>
                  </a:rPr>
                  <a:t>1-14: order of behaviour;  Circle size: weight of </a:t>
                </a:r>
                <a:r>
                  <a:rPr lang="en-GB" sz="400" err="1">
                    <a:solidFill>
                      <a:schemeClr val="accent1"/>
                    </a:solidFill>
                  </a:rPr>
                  <a:t>behavior</a:t>
                </a:r>
                <a:endParaRPr lang="en-GB" sz="40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AAC7374F-1363-5559-78F5-854AFE4CE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07861" y="2561583"/>
              <a:ext cx="5011597" cy="1232316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lIns="72000" tIns="0" rIns="72000" bIns="0" rtlCol="0" anchor="ctr"/>
            <a:lstStyle/>
            <a:p>
              <a:pPr marL="0" marR="0" lvl="0" indent="0" algn="ctr" defTabSz="914400" fontAlgn="base" latinLnBrk="0" hangingPunct="1">
                <a:lnSpc>
                  <a:spcPct val="90000"/>
                </a:lnSpc>
                <a:spcBef>
                  <a:spcPts val="3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00" b="0" i="0" u="none" strike="noStrike" kern="0" cap="none" spc="0" normalizeH="0" baseline="0">
                <a:ln>
                  <a:noFill/>
                </a:ln>
                <a:solidFill>
                  <a:srgbClr val="8D9399"/>
                </a:solidFill>
                <a:effectLst/>
                <a:uLnTx/>
                <a:uFillTx/>
                <a:latin typeface="Arial Narrow"/>
                <a:cs typeface="Arial" pitchFamily="34" charset="0"/>
              </a:endParaRPr>
            </a:p>
          </p:txBody>
        </p:sp>
      </p:grpSp>
      <p:sp>
        <p:nvSpPr>
          <p:cNvPr id="41" name="Rectangle 27">
            <a:extLst>
              <a:ext uri="{FF2B5EF4-FFF2-40B4-BE49-F238E27FC236}">
                <a16:creationId xmlns:a16="http://schemas.microsoft.com/office/drawing/2014/main" id="{22EB69C6-AA48-F10E-52C9-CC8BC1B4F59F}"/>
              </a:ext>
            </a:extLst>
          </p:cNvPr>
          <p:cNvSpPr>
            <a:spLocks noChangeAspect="1"/>
          </p:cNvSpPr>
          <p:nvPr/>
        </p:nvSpPr>
        <p:spPr>
          <a:xfrm>
            <a:off x="917418" y="2026717"/>
            <a:ext cx="2938080" cy="1137066"/>
          </a:xfrm>
          <a:prstGeom prst="rect">
            <a:avLst/>
          </a:prstGeom>
          <a:noFill/>
          <a:ln w="9525" cap="flat" cmpd="sng" algn="ctr">
            <a:solidFill>
              <a:srgbClr val="DEE0E3"/>
            </a:solidFill>
            <a:prstDash val="solid"/>
          </a:ln>
          <a:effectLst/>
        </p:spPr>
        <p:txBody>
          <a:bodyPr lIns="72000" tIns="0" rIns="72000" bIns="0" rtlCol="0" anchor="ctr"/>
          <a:lstStyle/>
          <a:p>
            <a:pPr marL="0" marR="0" lvl="0" indent="0" algn="ctr" defTabSz="914400" fontAlgn="base" latinLnBrk="0" hangingPunct="1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300" b="0" i="0" u="none" strike="noStrike" kern="0" cap="none" spc="0" normalizeH="0" baseline="0">
              <a:ln>
                <a:noFill/>
              </a:ln>
              <a:solidFill>
                <a:srgbClr val="8D9399"/>
              </a:solidFill>
              <a:effectLst/>
              <a:uLnTx/>
              <a:uFillTx/>
              <a:latin typeface="Arial Narrow"/>
              <a:cs typeface="Arial" pitchFamily="34" charset="0"/>
            </a:endParaRPr>
          </a:p>
        </p:txBody>
      </p:sp>
      <p:pic>
        <p:nvPicPr>
          <p:cNvPr id="2" name="Picture 11" descr="A picture containing text, electronics, display, screenshot&#10;&#10;Description automatically generated">
            <a:extLst>
              <a:ext uri="{FF2B5EF4-FFF2-40B4-BE49-F238E27FC236}">
                <a16:creationId xmlns:a16="http://schemas.microsoft.com/office/drawing/2014/main" id="{874E33A9-A26E-AC61-269F-82A8B44F6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17" y="1494138"/>
            <a:ext cx="4013506" cy="242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11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4162&quot;&gt;&lt;version val=&quot;2704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3&quot;&gt;&lt;elem m_fUsage=&quot;1.81000000000000005329E+00&quot;&gt;&lt;m_msothmcolidx val=&quot;0&quot;/&gt;&lt;m_rgb r=&quot;9F&quot; g=&quot;D8&quot; b=&quot;0E&quot;/&gt;&lt;m_nBrightness tagver0=&quot;26206&quot; tagname0=&quot;m_nBrightnessUNRECOGNIZED&quot; val=&quot;0&quot;/&gt;&lt;/elem&gt;&lt;elem m_fUsage=&quot;9.00000000000000022204E-01&quot;&gt;&lt;m_msothmcolidx val=&quot;0&quot;/&gt;&lt;m_rgb r=&quot;CD&quot; g=&quot;CD&quot; b=&quot;CD&quot;/&gt;&lt;m_nBrightness tagver0=&quot;26206&quot; tagname0=&quot;m_nBrightnessUNRECOGNIZED&quot; val=&quot;0&quot;/&gt;&lt;/elem&gt;&lt;elem m_fUsage=&quot;7.29000000000000092371E-01&quot;&gt;&lt;m_msothmcolidx val=&quot;0&quot;/&gt;&lt;m_rgb r=&quot;6D&quot; g=&quot;E2&quot; b=&quot;41&quot;/&gt;&lt;m_nBrightness tagver0=&quot;26206&quot; tagname0=&quot;m_nBrightnessUNRECOGNIZED&quot;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Kr2SfJSy2G5o8HW8Sttw"/>
</p:tagLst>
</file>

<file path=ppt/theme/theme1.xml><?xml version="1.0" encoding="utf-8"?>
<a:theme xmlns:a="http://schemas.openxmlformats.org/drawingml/2006/main" name="Reply">
  <a:themeElements>
    <a:clrScheme name="Benutzerdefiniert 2">
      <a:dk1>
        <a:srgbClr val="FFFFFF"/>
      </a:dk1>
      <a:lt1>
        <a:srgbClr val="000000"/>
      </a:lt1>
      <a:dk2>
        <a:srgbClr val="053238"/>
      </a:dk2>
      <a:lt2>
        <a:srgbClr val="00B13F"/>
      </a:lt2>
      <a:accent1>
        <a:srgbClr val="71D83F"/>
      </a:accent1>
      <a:accent2>
        <a:srgbClr val="00B140"/>
      </a:accent2>
      <a:accent3>
        <a:srgbClr val="A6E650"/>
      </a:accent3>
      <a:accent4>
        <a:srgbClr val="8CDE4F"/>
      </a:accent4>
      <a:accent5>
        <a:srgbClr val="6DD54E"/>
      </a:accent5>
      <a:accent6>
        <a:srgbClr val="40C44E"/>
      </a:accent6>
      <a:hlink>
        <a:srgbClr val="25BB4E"/>
      </a:hlink>
      <a:folHlink>
        <a:srgbClr val="B4D02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FFF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097ED64C-1469-4E9B-A6EE-E169F18D7DB3}" vid="{B73C506B-0DF6-4CFA-9B1D-8AAF7C79760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3dfb1fd-9939-48e8-b7f9-906c8dec5f83">
      <UserInfo>
        <DisplayName>Claudia Ciuciu</DisplayName>
        <AccountId>784</AccountId>
        <AccountType/>
      </UserInfo>
      <UserInfo>
        <DisplayName>Annie Yim</DisplayName>
        <AccountId>36</AccountId>
        <AccountType/>
      </UserInfo>
      <UserInfo>
        <DisplayName>Giuseppe Gagliano</DisplayName>
        <AccountId>360</AccountId>
        <AccountType/>
      </UserInfo>
    </SharedWithUsers>
    <lcf76f155ced4ddcb4097134ff3c332f xmlns="3ed6e455-ac74-4dac-a85f-281444f13a89">
      <Terms xmlns="http://schemas.microsoft.com/office/infopath/2007/PartnerControls"/>
    </lcf76f155ced4ddcb4097134ff3c332f>
    <TaxCatchAll xmlns="93dfb1fd-9939-48e8-b7f9-906c8dec5f8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0DA48F075C5B4A97888B7494D83B0A" ma:contentTypeVersion="18" ma:contentTypeDescription="Create a new document." ma:contentTypeScope="" ma:versionID="1a522abe8c59da9d6467652055971ea3">
  <xsd:schema xmlns:xsd="http://www.w3.org/2001/XMLSchema" xmlns:xs="http://www.w3.org/2001/XMLSchema" xmlns:p="http://schemas.microsoft.com/office/2006/metadata/properties" xmlns:ns2="3ed6e455-ac74-4dac-a85f-281444f13a89" xmlns:ns3="93dfb1fd-9939-48e8-b7f9-906c8dec5f83" targetNamespace="http://schemas.microsoft.com/office/2006/metadata/properties" ma:root="true" ma:fieldsID="b19f811aee0631183f61d9d45dafbe9b" ns2:_="" ns3:_="">
    <xsd:import namespace="3ed6e455-ac74-4dac-a85f-281444f13a89"/>
    <xsd:import namespace="93dfb1fd-9939-48e8-b7f9-906c8dec5f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d6e455-ac74-4dac-a85f-281444f13a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a14d781-0189-441e-87ef-c208f41383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dfb1fd-9939-48e8-b7f9-906c8dec5f8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fae4711-15c2-4032-ae7d-782264aaa624}" ma:internalName="TaxCatchAll" ma:showField="CatchAllData" ma:web="93dfb1fd-9939-48e8-b7f9-906c8dec5f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C53C13-48C7-4544-93BF-9003A9BB3E88}">
  <ds:schemaRefs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  <ds:schemaRef ds:uri="93dfb1fd-9939-48e8-b7f9-906c8dec5f8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3ed6e455-ac74-4dac-a85f-281444f13a8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364AE00-00DD-413F-A79B-723585B863D8}">
  <ds:schemaRefs>
    <ds:schemaRef ds:uri="3ed6e455-ac74-4dac-a85f-281444f13a89"/>
    <ds:schemaRef ds:uri="93dfb1fd-9939-48e8-b7f9-906c8dec5f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E225052-F2B8-49FC-A412-5D27ABF2318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00367e2-193a-4f48-94de-7245d45c0947}" enabled="0" method="" siteId="{b00367e2-193a-4f48-94de-7245d45c09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183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 Black</vt:lpstr>
      <vt:lpstr>Arial Narrow</vt:lpstr>
      <vt:lpstr>Calibri</vt:lpstr>
      <vt:lpstr>Montserrat Light</vt:lpstr>
      <vt:lpstr>Wingdings</vt:lpstr>
      <vt:lpstr>Reply</vt:lpstr>
      <vt:lpstr>think-cell Folie</vt:lpstr>
      <vt:lpstr>think-cell Slide</vt:lpstr>
      <vt:lpstr>Customer segmentation is the base for use cases to support customers’ decision-process positively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>Laura Woljem</dc:creator>
  <cp:keywords/>
  <dc:description/>
  <cp:lastModifiedBy>Maurits De Roover</cp:lastModifiedBy>
  <cp:revision>4</cp:revision>
  <dcterms:created xsi:type="dcterms:W3CDTF">2017-04-28T20:36:13Z</dcterms:created>
  <dcterms:modified xsi:type="dcterms:W3CDTF">2025-04-16T05:43:41Z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0x010100C40DA48F075C5B4A97888B7494D83B0A</vt:lpwstr>
  </property>
  <property fmtid="{D5CDD505-2E9C-101B-9397-08002B2CF9AE}" pid="3" name="AuthorIds_UIVersion_512">
    <vt:lpwstr>6</vt:lpwstr>
  </property>
  <property fmtid="{D5CDD505-2E9C-101B-9397-08002B2CF9AE}" pid="4" name="MediaServiceImageTags">
    <vt:lpwstr/>
  </property>
</Properties>
</file>