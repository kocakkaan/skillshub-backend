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7" r:id="rId5"/>
  </p:sldIdLst>
  <p:sldSz cx="12192000" cy="6858000"/>
  <p:notesSz cx="6858000" cy="9144000"/>
  <p:custDataLst>
    <p:tags r:id="rId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3940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3E"/>
    <a:srgbClr val="CCCDD8"/>
    <a:srgbClr val="B0B4DD"/>
    <a:srgbClr val="82839E"/>
    <a:srgbClr val="474A67"/>
    <a:srgbClr val="515472"/>
    <a:srgbClr val="8D8EA9"/>
    <a:srgbClr val="505272"/>
    <a:srgbClr val="505273"/>
    <a:srgbClr val="4E4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2D06C-8FF0-4037-ACBB-87355F18193F}" v="1" dt="2023-09-05T06:05:38.362"/>
    <p1510:client id="{562D201D-F49C-9931-CD89-58B56BE14D1E}" v="1206" dt="2023-09-05T06:05:08.907"/>
    <p1510:client id="{C26F6D18-CE78-741E-49C9-7B17393AF588}" v="205" dt="2023-09-06T13:03:56.26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94" y="96"/>
      </p:cViewPr>
      <p:guideLst>
        <p:guide orient="horz" pos="1366"/>
        <p:guide pos="2479"/>
        <p:guide pos="3840"/>
        <p:guide pos="3940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C3EA9E-6BDC-4A79-AFF7-99C44CB824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F4F1B-A484-48CA-949E-C54FAD24AC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40642-083C-45F1-96AE-6C40D1428CD6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CCD8-E031-4ADB-97E6-0462DC70D0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4311C-44CC-49A8-A38C-3C038F976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2F52F-549D-4565-87BA-A1055EB5B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89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2F1A5-1147-44AA-941C-401C9E3002E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Modifica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3249D-E364-4AF9-8113-7FC01C784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3.png"/><Relationship Id="rId5" Type="http://schemas.openxmlformats.org/officeDocument/2006/relationships/tags" Target="../tags/tag8.xml"/><Relationship Id="rId10" Type="http://schemas.openxmlformats.org/officeDocument/2006/relationships/image" Target="../media/image1.emf"/><Relationship Id="rId4" Type="http://schemas.openxmlformats.org/officeDocument/2006/relationships/tags" Target="../tags/tag7.xml"/><Relationship Id="rId9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ly [ENG]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7606A10-8F0C-4B96-8F0F-38986ED53B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415" imgH="416" progId="TCLayout.ActiveDocument.1">
                  <p:embed/>
                </p:oleObj>
              </mc:Choice>
              <mc:Fallback>
                <p:oleObj name="think-cell Folie" r:id="rId9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7606A10-8F0C-4B96-8F0F-38986ED53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D7A1DBF-AD07-4E04-96CF-3D15977685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it-IT" sz="1600" b="1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32" name="Freeform 27">
            <a:extLst>
              <a:ext uri="{FF2B5EF4-FFF2-40B4-BE49-F238E27FC236}">
                <a16:creationId xmlns:a16="http://schemas.microsoft.com/office/drawing/2014/main" id="{115D5E09-1E48-4E0E-82C0-2E1B99C3C405}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10305282" y="0"/>
            <a:ext cx="1886717" cy="94326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72"/>
              </a:cxn>
              <a:cxn ang="0">
                <a:pos x="1260" y="572"/>
              </a:cxn>
              <a:cxn ang="0">
                <a:pos x="1430" y="0"/>
              </a:cxn>
              <a:cxn ang="0">
                <a:pos x="0" y="0"/>
              </a:cxn>
            </a:cxnLst>
            <a:rect l="0" t="0" r="r" b="b"/>
            <a:pathLst>
              <a:path w="1430" h="572">
                <a:moveTo>
                  <a:pt x="0" y="0"/>
                </a:moveTo>
                <a:lnTo>
                  <a:pt x="0" y="572"/>
                </a:lnTo>
                <a:lnTo>
                  <a:pt x="1260" y="572"/>
                </a:lnTo>
                <a:lnTo>
                  <a:pt x="143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13E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noAutofit/>
          </a:bodyPr>
          <a:lstStyle/>
          <a:p>
            <a:pPr eaLnBrk="1">
              <a:defRPr/>
            </a:pPr>
            <a:endParaRPr lang="en-US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B7E87986-522A-564F-AD15-983D7EF716C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65682" y="3066575"/>
            <a:ext cx="3368874" cy="243166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14300" indent="-114300">
              <a:spcBef>
                <a:spcPct val="30000"/>
              </a:spcBef>
              <a:buClr>
                <a:srgbClr val="006699"/>
              </a:buClr>
            </a:pPr>
            <a:r>
              <a:rPr lang="de-DE" sz="1300" b="0" i="0">
                <a:solidFill>
                  <a:srgbClr val="FFFFFF"/>
                </a:solidFill>
                <a:latin typeface="PT Sans Narrow" panose="020B0506020203020204" pitchFamily="34" charset="77"/>
              </a:rPr>
              <a:t>Professional Background</a:t>
            </a: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635F589A-82F0-674D-88BA-4F816FB0AA0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3956401" y="1293361"/>
            <a:ext cx="3741914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94945" indent="-194945" eaLnBrk="0" hangingPunct="0">
              <a:lnSpc>
                <a:spcPct val="80000"/>
              </a:lnSpc>
              <a:spcBef>
                <a:spcPct val="5000"/>
              </a:spcBef>
              <a:defRPr/>
            </a:pPr>
            <a:r>
              <a:rPr lang="de-DE" sz="1300" b="0" i="0">
                <a:solidFill>
                  <a:schemeClr val="bg1"/>
                </a:solidFill>
                <a:latin typeface="PT Sans Narrow" panose="020B0506020203020204" pitchFamily="34" charset="77"/>
              </a:rPr>
              <a:t>Functional Expertise 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E18AFDB3-6129-A746-9218-5AFD5EBBFC0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3956400" y="3066575"/>
            <a:ext cx="7868913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14300" indent="-114300">
              <a:spcBef>
                <a:spcPct val="30000"/>
              </a:spcBef>
              <a:buClr>
                <a:srgbClr val="006699"/>
              </a:buClr>
            </a:pPr>
            <a:r>
              <a:rPr lang="en-GB" sz="1300" b="0" i="0">
                <a:solidFill>
                  <a:srgbClr val="FFFFFF"/>
                </a:solidFill>
                <a:latin typeface="PT Sans Narrow" panose="020B0506020203020204" pitchFamily="34" charset="77"/>
              </a:rPr>
              <a:t>Relevant Project Experience (Selection)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4DEB16DF-0856-429A-886D-55FBFDD3ACA7}"/>
              </a:ext>
            </a:extLst>
          </p:cNvPr>
          <p:cNvSpPr txBox="1"/>
          <p:nvPr userDrawn="1"/>
        </p:nvSpPr>
        <p:spPr>
          <a:xfrm>
            <a:off x="365682" y="397932"/>
            <a:ext cx="993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 baseline="0" dirty="0">
                <a:solidFill>
                  <a:srgbClr val="00444C"/>
                </a:solidFill>
                <a:latin typeface="PT Sans Caption" panose="020B0603020203020204" pitchFamily="34" charset="77"/>
              </a:rPr>
              <a:t>SHORT SUMMARY AND PROJECT EXPERIENCE</a:t>
            </a:r>
            <a:endParaRPr lang="de-DE" sz="2800" b="1" spc="100" baseline="0" dirty="0">
              <a:solidFill>
                <a:srgbClr val="00444C"/>
              </a:solidFill>
              <a:latin typeface="PT Sans Caption" panose="020B0603020203020204" pitchFamily="34" charset="77"/>
            </a:endParaRPr>
          </a:p>
        </p:txBody>
      </p:sp>
      <p:pic>
        <p:nvPicPr>
          <p:cNvPr id="27" name="Bild 6" descr="Unbenannt-1.png">
            <a:extLst>
              <a:ext uri="{FF2B5EF4-FFF2-40B4-BE49-F238E27FC236}">
                <a16:creationId xmlns:a16="http://schemas.microsoft.com/office/drawing/2014/main" id="{6821E482-C5A1-C74A-BE25-9FAF51FE9F4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108" y="264527"/>
            <a:ext cx="1463064" cy="392400"/>
          </a:xfrm>
          <a:prstGeom prst="rect">
            <a:avLst/>
          </a:prstGeom>
        </p:spPr>
      </p:pic>
      <p:sp>
        <p:nvSpPr>
          <p:cNvPr id="33" name="RoleText">
            <a:extLst>
              <a:ext uri="{FF2B5EF4-FFF2-40B4-BE49-F238E27FC236}">
                <a16:creationId xmlns:a16="http://schemas.microsoft.com/office/drawing/2014/main" id="{7262B094-0E69-5839-C08D-46579E0EDB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9932" y="1819174"/>
            <a:ext cx="1963737" cy="215817"/>
          </a:xfrm>
          <a:prstGeom prst="rect">
            <a:avLst/>
          </a:prstGeom>
        </p:spPr>
        <p:txBody>
          <a:bodyPr/>
          <a:lstStyle>
            <a:lvl1pPr>
              <a:defRPr sz="1000" u="none">
                <a:solidFill>
                  <a:schemeClr val="bg1"/>
                </a:solidFill>
                <a:latin typeface="PT Sans" panose="020B0503020203020204" pitchFamily="34" charset="77"/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D361F3-3FBD-0767-47B5-246FF0AA64E2}"/>
              </a:ext>
            </a:extLst>
          </p:cNvPr>
          <p:cNvSpPr txBox="1"/>
          <p:nvPr userDrawn="1"/>
        </p:nvSpPr>
        <p:spPr>
          <a:xfrm>
            <a:off x="1668663" y="2398152"/>
            <a:ext cx="72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solidFill>
                  <a:schemeClr val="bg1"/>
                </a:solidFill>
                <a:latin typeface="PT Sans" panose="020B0503020203020204" pitchFamily="34" charset="77"/>
              </a:rPr>
              <a:t>Mobile: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F24A3-11A6-FC83-2E3E-A4ED06AB3AAE}"/>
              </a:ext>
            </a:extLst>
          </p:cNvPr>
          <p:cNvSpPr txBox="1"/>
          <p:nvPr userDrawn="1"/>
        </p:nvSpPr>
        <p:spPr>
          <a:xfrm>
            <a:off x="1668663" y="2591877"/>
            <a:ext cx="72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solidFill>
                  <a:schemeClr val="bg1"/>
                </a:solidFill>
                <a:latin typeface="PT Sans" panose="020B0503020203020204" pitchFamily="34" charset="77"/>
              </a:rPr>
              <a:t>Email:</a:t>
            </a: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1ED9033F-D7E8-FCC0-ADF8-94A3618809A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987591" y="1303252"/>
            <a:ext cx="3741914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94945" indent="-194945" eaLnBrk="0" hangingPunct="0">
              <a:lnSpc>
                <a:spcPct val="80000"/>
              </a:lnSpc>
              <a:spcBef>
                <a:spcPct val="5000"/>
              </a:spcBef>
              <a:defRPr/>
            </a:pPr>
            <a:r>
              <a:rPr lang="de-DE" sz="1300" b="0" i="0">
                <a:solidFill>
                  <a:schemeClr val="bg1"/>
                </a:solidFill>
                <a:latin typeface="PT Sans Narrow" panose="020B0506020203020204" pitchFamily="34" charset="77"/>
              </a:rPr>
              <a:t>Industry Expertise </a:t>
            </a:r>
          </a:p>
        </p:txBody>
      </p:sp>
      <p:sp>
        <p:nvSpPr>
          <p:cNvPr id="24" name="NameText">
            <a:extLst>
              <a:ext uri="{FF2B5EF4-FFF2-40B4-BE49-F238E27FC236}">
                <a16:creationId xmlns:a16="http://schemas.microsoft.com/office/drawing/2014/main" id="{F0FE5748-2E7E-E6A6-6A28-D26B4D5C1D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4356" y="1366838"/>
            <a:ext cx="1963737" cy="292323"/>
          </a:xfrm>
          <a:prstGeom prst="rect">
            <a:avLst/>
          </a:prstGeom>
        </p:spPr>
        <p:txBody>
          <a:bodyPr/>
          <a:lstStyle>
            <a:lvl1pPr>
              <a:defRPr sz="1400" u="none">
                <a:solidFill>
                  <a:schemeClr val="bg1"/>
                </a:solidFill>
                <a:latin typeface="PT Sans Caption" panose="020B0603020203020204" pitchFamily="34" charset="77"/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phoneText">
            <a:extLst>
              <a:ext uri="{FF2B5EF4-FFF2-40B4-BE49-F238E27FC236}">
                <a16:creationId xmlns:a16="http://schemas.microsoft.com/office/drawing/2014/main" id="{32D758A8-5F1A-0074-1212-0D202F54F6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11621" y="2398152"/>
            <a:ext cx="1421636" cy="215817"/>
          </a:xfrm>
          <a:prstGeom prst="rect">
            <a:avLst/>
          </a:prstGeom>
        </p:spPr>
        <p:txBody>
          <a:bodyPr/>
          <a:lstStyle>
            <a:lvl1pPr algn="r">
              <a:defRPr sz="1000" b="0" u="none">
                <a:solidFill>
                  <a:schemeClr val="bg1"/>
                </a:solidFill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0" name="emailText">
            <a:extLst>
              <a:ext uri="{FF2B5EF4-FFF2-40B4-BE49-F238E27FC236}">
                <a16:creationId xmlns:a16="http://schemas.microsoft.com/office/drawing/2014/main" id="{D22EA4D4-086D-609B-9F4E-D76622CA11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11621" y="2591877"/>
            <a:ext cx="1421636" cy="215817"/>
          </a:xfrm>
          <a:prstGeom prst="rect">
            <a:avLst/>
          </a:prstGeom>
        </p:spPr>
        <p:txBody>
          <a:bodyPr/>
          <a:lstStyle>
            <a:lvl1pPr algn="r">
              <a:defRPr sz="1000" b="0" u="none">
                <a:solidFill>
                  <a:schemeClr val="bg1"/>
                </a:solidFill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FD175A-5BDD-41B4-6678-3E9EA2421A94}"/>
              </a:ext>
            </a:extLst>
          </p:cNvPr>
          <p:cNvSpPr txBox="1"/>
          <p:nvPr userDrawn="1"/>
        </p:nvSpPr>
        <p:spPr>
          <a:xfrm>
            <a:off x="1666234" y="2077326"/>
            <a:ext cx="9799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b="1">
                <a:solidFill>
                  <a:schemeClr val="bg1"/>
                </a:solidFill>
                <a:latin typeface="PT Sans" panose="020B0503020203020204" pitchFamily="34" charset="77"/>
              </a:rPr>
              <a:t>Reply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D3C71D-7075-B546-9BC5-D89E0044A02A}"/>
              </a:ext>
            </a:extLst>
          </p:cNvPr>
          <p:cNvSpPr txBox="1"/>
          <p:nvPr userDrawn="1"/>
        </p:nvSpPr>
        <p:spPr>
          <a:xfrm>
            <a:off x="291524" y="6438312"/>
            <a:ext cx="137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T Sans" panose="020B0503020203020204" pitchFamily="34" charset="77"/>
                <a:ea typeface="+mn-ea"/>
                <a:cs typeface="+mn-cs"/>
              </a:rPr>
              <a:t>Reply | Short CV |</a:t>
            </a:r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T Sans" panose="020B0503020203020204" pitchFamily="34" charset="77"/>
              <a:ea typeface="+mn-ea"/>
              <a:cs typeface="+mn-cs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18C88B2-E270-7146-9A64-27774820BD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92" y="6438312"/>
            <a:ext cx="655830" cy="243166"/>
          </a:xfrm>
          <a:prstGeom prst="rect">
            <a:avLst/>
          </a:prstGeom>
        </p:spPr>
        <p:txBody>
          <a:bodyPr lIns="0"/>
          <a:lstStyle>
            <a:lvl1pPr>
              <a:def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T Sans" panose="020B0503020203020204" pitchFamily="34" charset="77"/>
                <a:ea typeface="+mn-ea"/>
                <a:cs typeface="+mn-cs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Q2 2022</a:t>
            </a:r>
          </a:p>
        </p:txBody>
      </p:sp>
      <p:sp>
        <p:nvSpPr>
          <p:cNvPr id="31" name="ProfessionalBackgroundText">
            <a:extLst>
              <a:ext uri="{FF2B5EF4-FFF2-40B4-BE49-F238E27FC236}">
                <a16:creationId xmlns:a16="http://schemas.microsoft.com/office/drawing/2014/main" id="{4FCCEF2F-5422-5F45-AFBA-83996B2FED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675" y="3419232"/>
            <a:ext cx="3180418" cy="2831097"/>
          </a:xfrm>
          <a:prstGeom prst="rect">
            <a:avLst/>
          </a:prstGeom>
        </p:spPr>
        <p:txBody>
          <a:bodyPr lIns="0"/>
          <a:lstStyle>
            <a:lvl1pPr>
              <a:defRPr sz="10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Text in paragraphs with relevant information highlighted in bold.</a:t>
            </a:r>
          </a:p>
        </p:txBody>
      </p:sp>
      <p:sp>
        <p:nvSpPr>
          <p:cNvPr id="46" name="IndustryExpertiseText">
            <a:extLst>
              <a:ext uri="{FF2B5EF4-FFF2-40B4-BE49-F238E27FC236}">
                <a16:creationId xmlns:a16="http://schemas.microsoft.com/office/drawing/2014/main" id="{8BEDB43C-CCA4-564E-805F-6F1A39F1A5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98071" y="1627072"/>
            <a:ext cx="3757829" cy="1173942"/>
          </a:xfrm>
          <a:prstGeom prst="rect">
            <a:avLst/>
          </a:prstGeom>
        </p:spPr>
        <p:txBody>
          <a:bodyPr l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9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General Industry identifier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</p:txBody>
      </p:sp>
      <p:sp>
        <p:nvSpPr>
          <p:cNvPr id="47" name="FunctionExpertiseText">
            <a:extLst>
              <a:ext uri="{FF2B5EF4-FFF2-40B4-BE49-F238E27FC236}">
                <a16:creationId xmlns:a16="http://schemas.microsoft.com/office/drawing/2014/main" id="{B49D48AB-DE9D-2846-9D63-92B5B328C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7990" y="1627072"/>
            <a:ext cx="3597641" cy="1173942"/>
          </a:xfrm>
          <a:prstGeom prst="rect">
            <a:avLst/>
          </a:prstGeom>
        </p:spPr>
        <p:txBody>
          <a:bodyPr l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9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Expertise (list of tools)</a:t>
            </a:r>
          </a:p>
        </p:txBody>
      </p:sp>
      <p:sp>
        <p:nvSpPr>
          <p:cNvPr id="35" name="ProjectText">
            <a:extLst>
              <a:ext uri="{FF2B5EF4-FFF2-40B4-BE49-F238E27FC236}">
                <a16:creationId xmlns:a16="http://schemas.microsoft.com/office/drawing/2014/main" id="{6FB59864-C817-1941-85A9-0863DE51AD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7990" y="3429000"/>
            <a:ext cx="7727910" cy="2821330"/>
          </a:xfrm>
          <a:prstGeom prst="rect">
            <a:avLst/>
          </a:prstGeom>
        </p:spPr>
        <p:txBody>
          <a:bodyPr lIns="0"/>
          <a:lstStyle>
            <a:lvl1pPr marL="0" indent="0">
              <a:buFont typeface="Wingdings" pitchFamily="2" charset="2"/>
              <a:buNone/>
              <a:defRPr sz="900" b="1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 marL="171450" indent="-171450">
              <a:buFont typeface="Wingdings" pitchFamily="2" charset="2"/>
              <a:buChar char="§"/>
              <a:defRPr sz="9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fontAlgn="base">
              <a:spcBef>
                <a:spcPts val="100"/>
              </a:spcBef>
            </a:pPr>
            <a:r>
              <a:rPr lang="en-US"/>
              <a:t>Description for a project – Position</a:t>
            </a:r>
          </a:p>
          <a:p>
            <a:pPr lvl="1" fontAlgn="base">
              <a:spcBef>
                <a:spcPts val="100"/>
              </a:spcBef>
            </a:pPr>
            <a:r>
              <a:rPr lang="en-US" sz="900"/>
              <a:t>Item</a:t>
            </a:r>
          </a:p>
          <a:p>
            <a:pPr lvl="1" fontAlgn="base">
              <a:spcBef>
                <a:spcPts val="100"/>
              </a:spcBef>
            </a:pPr>
            <a:r>
              <a:rPr lang="en-US" sz="900"/>
              <a:t>Item</a:t>
            </a:r>
            <a:endParaRPr lang="de-DE"/>
          </a:p>
        </p:txBody>
      </p:sp>
      <p:sp>
        <p:nvSpPr>
          <p:cNvPr id="6" name="ProfilePicture">
            <a:extLst>
              <a:ext uri="{FF2B5EF4-FFF2-40B4-BE49-F238E27FC236}">
                <a16:creationId xmlns:a16="http://schemas.microsoft.com/office/drawing/2014/main" id="{90725F5E-284F-61FA-0C96-43866E3B100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7675" y="1366838"/>
            <a:ext cx="1147763" cy="1457325"/>
          </a:xfrm>
          <a:prstGeom prst="rect">
            <a:avLst/>
          </a:prstGeom>
        </p:spPr>
        <p:txBody>
          <a:bodyPr/>
          <a:lstStyle>
            <a:lvl1pPr>
              <a:defRPr b="0" i="1" u="none"/>
            </a:lvl1pPr>
          </a:lstStyle>
          <a:p>
            <a:r>
              <a:rPr lang="de-DE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03232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orient="horz" pos="23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47F358-451E-49C3-8163-F9C911B7CA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74375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15" imgH="416" progId="TCLayout.ActiveDocument.1">
                  <p:embed/>
                </p:oleObj>
              </mc:Choice>
              <mc:Fallback>
                <p:oleObj name="think-cell Folie" r:id="rId5" imgW="415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47F358-451E-49C3-8163-F9C911B7C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C94BCBB1-4EA1-4F40-BA7B-FD3994190CF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2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3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004149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itchFamily="34" charset="0"/>
        <a:buNone/>
        <a:tabLst/>
        <a:defRPr lang="en-US" sz="1000" b="1" u="sng" kern="1200" noProof="0" dirty="0" smtClean="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1pPr>
      <a:lvl2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itchFamily="34" charset="0"/>
        <a:buNone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2pPr>
      <a:lvl3pPr marL="177800" marR="0" indent="-1778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■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3pPr>
      <a:lvl4pPr marL="355600" marR="0" indent="-1778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–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4pPr>
      <a:lvl5pPr marL="534988" marR="0" indent="-174625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■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leText">
            <a:extLst>
              <a:ext uri="{FF2B5EF4-FFF2-40B4-BE49-F238E27FC236}">
                <a16:creationId xmlns:a16="http://schemas.microsoft.com/office/drawing/2014/main" id="{ECB340C3-4D23-9BA0-09FC-B934FA5274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Lala</a:t>
            </a:r>
          </a:p>
        </p:txBody>
      </p:sp>
      <p:sp>
        <p:nvSpPr>
          <p:cNvPr id="3" name="NameText">
            <a:extLst>
              <a:ext uri="{FF2B5EF4-FFF2-40B4-BE49-F238E27FC236}">
                <a16:creationId xmlns:a16="http://schemas.microsoft.com/office/drawing/2014/main" id="{BC23F51A-8CFE-717A-1D38-947B029006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Maurits</a:t>
            </a:r>
          </a:p>
        </p:txBody>
      </p:sp>
      <p:sp>
        <p:nvSpPr>
          <p:cNvPr id="4" name="phoneText">
            <a:extLst>
              <a:ext uri="{FF2B5EF4-FFF2-40B4-BE49-F238E27FC236}">
                <a16:creationId xmlns:a16="http://schemas.microsoft.com/office/drawing/2014/main" id="{AA42BBD9-F2A8-C8AF-B629-695D8813BF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na</a:t>
            </a:r>
          </a:p>
        </p:txBody>
      </p:sp>
      <p:sp>
        <p:nvSpPr>
          <p:cNvPr id="5" name="emailText">
            <a:extLst>
              <a:ext uri="{FF2B5EF4-FFF2-40B4-BE49-F238E27FC236}">
                <a16:creationId xmlns:a16="http://schemas.microsoft.com/office/drawing/2014/main" id="{45001E35-BF80-7FA3-BCDB-7D05BC0EA9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na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4F3B20-D5C5-61E5-A735-45BADE0D45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ProfessionalBackgroundText">
            <a:extLst>
              <a:ext uri="{FF2B5EF4-FFF2-40B4-BE49-F238E27FC236}">
                <a16:creationId xmlns:a16="http://schemas.microsoft.com/office/drawing/2014/main" id="{BE7DE9D6-56A3-4620-C0CE-6D16FA8973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SomeText</a:t>
            </a:r>
          </a:p>
        </p:txBody>
      </p:sp>
      <p:sp>
        <p:nvSpPr>
          <p:cNvPr id="8" name="IndustryExpertiseText">
            <a:extLst>
              <a:ext uri="{FF2B5EF4-FFF2-40B4-BE49-F238E27FC236}">
                <a16:creationId xmlns:a16="http://schemas.microsoft.com/office/drawing/2014/main" id="{7B1DC21B-3EC1-23E4-B4BC-C72E7490D6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Knowledge Graphs (Neo4j, Socially Linked Data, RDF, OWL)</a:t>
            </a:r>
          </a:p>
          <a:p>
            <a:r>
              <a:rPr lang="de-DE" dirty="0"/>
              <a:t>Software Engineering (Open API, Java, JavaScript, Python, Rust)</a:t>
            </a:r>
          </a:p>
          <a:p>
            <a:endParaRPr lang="de-DE" dirty="0"/>
          </a:p>
        </p:txBody>
      </p:sp>
      <p:sp>
        <p:nvSpPr>
          <p:cNvPr id="9" name="FunctionExpertiseText">
            <a:extLst>
              <a:ext uri="{FF2B5EF4-FFF2-40B4-BE49-F238E27FC236}">
                <a16:creationId xmlns:a16="http://schemas.microsoft.com/office/drawing/2014/main" id="{D719B103-2DE4-AE54-A9BC-E299EF0580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Knowledge Graphs (Neo4j, Socially Linked Data, RDF, OWL)</a:t>
            </a:r>
          </a:p>
          <a:p>
            <a:r>
              <a:rPr lang="de-DE" dirty="0"/>
              <a:t>Software Engineering (Open API, Java, JavaScript, Python, Rust)</a:t>
            </a:r>
          </a:p>
          <a:p>
            <a:endParaRPr lang="de-DE" dirty="0"/>
          </a:p>
        </p:txBody>
      </p:sp>
      <p:sp>
        <p:nvSpPr>
          <p:cNvPr id="10" name="ProjectText">
            <a:extLst>
              <a:ext uri="{FF2B5EF4-FFF2-40B4-BE49-F238E27FC236}">
                <a16:creationId xmlns:a16="http://schemas.microsoft.com/office/drawing/2014/main" id="{AAF0D52F-EA88-7AD3-C4EB-89BE6411C1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PT Sans"/>
              </a:rPr>
              <a:t>Conceptualization and Implementation of a skills management tool </a:t>
            </a:r>
            <a:r>
              <a:rPr lang="de-DE" dirty="0">
                <a:latin typeface="PT Sans"/>
              </a:rPr>
              <a:t> – Software Engineer</a:t>
            </a:r>
            <a:endParaRPr lang="en-US" dirty="0">
              <a:latin typeface="PT Sans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GB" b="0" dirty="0">
                <a:latin typeface="PT Sans"/>
              </a:rPr>
              <a:t>Conceptualized a skill management tool to better manage employee's skills, experiences and match those skills and experiences to projects and learning opportunities. Responsible for architecting initial application structure and communication objects.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GB" b="0" dirty="0">
                <a:latin typeface="PT Sans"/>
              </a:rPr>
              <a:t>Development of backend with </a:t>
            </a:r>
            <a:r>
              <a:rPr lang="en-GB" b="0" dirty="0" err="1">
                <a:latin typeface="PT Sans"/>
              </a:rPr>
              <a:t>NodeJs</a:t>
            </a:r>
            <a:r>
              <a:rPr lang="en-GB" b="0" dirty="0">
                <a:latin typeface="PT Sans"/>
              </a:rPr>
              <a:t> and a graph-based database and development of the frontend with Vue framework whilst using </a:t>
            </a:r>
            <a:r>
              <a:rPr lang="en-GB" b="0" dirty="0" err="1">
                <a:latin typeface="PT Sans"/>
              </a:rPr>
              <a:t>OpenAPI</a:t>
            </a:r>
            <a:r>
              <a:rPr lang="en-GB" b="0" dirty="0">
                <a:latin typeface="PT Sans"/>
              </a:rPr>
              <a:t> 3.0 standards. Jest (unit tests </a:t>
            </a:r>
            <a:r>
              <a:rPr lang="en-GB" b="0" dirty="0" err="1">
                <a:latin typeface="PT Sans"/>
              </a:rPr>
              <a:t>nodejs</a:t>
            </a:r>
            <a:r>
              <a:rPr lang="en-GB" b="0" dirty="0">
                <a:latin typeface="PT Sans"/>
              </a:rPr>
              <a:t>), </a:t>
            </a:r>
            <a:r>
              <a:rPr lang="en-GB" b="0" dirty="0" err="1">
                <a:latin typeface="PT Sans"/>
              </a:rPr>
              <a:t>Vitest</a:t>
            </a:r>
            <a:r>
              <a:rPr lang="en-GB" b="0" dirty="0">
                <a:latin typeface="PT Sans"/>
              </a:rPr>
              <a:t> (unit tests frontend) and Cypress (End-to-End) were implemented to avoid unexpected behaviour.</a:t>
            </a:r>
          </a:p>
          <a:p>
            <a:pPr marL="171450" indent="-171450">
              <a:buChar char="§"/>
            </a:pPr>
            <a:r>
              <a:rPr lang="en-GB" b="0" dirty="0">
                <a:latin typeface="PT Sans"/>
              </a:rPr>
              <a:t>Main responsible to create deployment files with a deployment using Docker and Kubernetes on an AWS infrastructure</a:t>
            </a:r>
          </a:p>
          <a:p>
            <a:endParaRPr lang="de-DE" dirty="0"/>
          </a:p>
        </p:txBody>
      </p:sp>
      <p:pic>
        <p:nvPicPr>
          <p:cNvPr id="13" name="ProfilePicture">
            <a:extLst>
              <a:ext uri="{FF2B5EF4-FFF2-40B4-BE49-F238E27FC236}">
                <a16:creationId xmlns:a16="http://schemas.microsoft.com/office/drawing/2014/main" id="{F379A71B-F7E8-2C99-586A-36ED91F91A4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" r="203"/>
          <a:stretch/>
        </p:blipFill>
        <p:spPr/>
      </p:pic>
    </p:spTree>
    <p:extLst>
      <p:ext uri="{BB962C8B-B14F-4D97-AF65-F5344CB8AC3E}">
        <p14:creationId xmlns:p14="http://schemas.microsoft.com/office/powerpoint/2010/main" val="17918855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28295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3&quot;&gt;&lt;elem m_fUsage=&quot;1.81000000000000005329E+00&quot;&gt;&lt;m_msothmcolidx val=&quot;0&quot;/&gt;&lt;m_rgb r=&quot;9F&quot; g=&quot;D8&quot; b=&quot;0E&quot;/&gt;&lt;/elem&gt;&lt;elem m_fUsage=&quot;9.00000000000000022204E-01&quot;&gt;&lt;m_msothmcolidx val=&quot;0&quot;/&gt;&lt;m_rgb r=&quot;CD&quot; g=&quot;CD&quot; b=&quot;CD&quot;/&gt;&lt;/elem&gt;&lt;elem m_fUsage=&quot;7.29000000000000092371E-01&quot;&gt;&lt;m_msothmcolidx val=&quot;0&quot;/&gt;&lt;m_rgb r=&quot;6D&quot; g=&quot;E2&quot; b=&quot;41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7mCijiSpW4PZl01j9QE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Kr2SfJSy2G5o8HW8Stt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nc32sApkGaofdKPb4DI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cAuxz9wkCU.48PVYilG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VgDYWR8ESS69kfvA1m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cAuxz9wkCU.48PVYilGw"/>
</p:tagLst>
</file>

<file path=ppt/theme/theme1.xml><?xml version="1.0" encoding="utf-8"?>
<a:theme xmlns:a="http://schemas.openxmlformats.org/drawingml/2006/main" name="Master">
  <a:themeElements>
    <a:clrScheme name="ML Reply 1">
      <a:dk1>
        <a:srgbClr val="252625"/>
      </a:dk1>
      <a:lt1>
        <a:srgbClr val="FFFFFF"/>
      </a:lt1>
      <a:dk2>
        <a:srgbClr val="323556"/>
      </a:dk2>
      <a:lt2>
        <a:srgbClr val="C9C9E0"/>
      </a:lt2>
      <a:accent1>
        <a:srgbClr val="8B8DA8"/>
      </a:accent1>
      <a:accent2>
        <a:srgbClr val="919191"/>
      </a:accent2>
      <a:accent3>
        <a:srgbClr val="515373"/>
      </a:accent3>
      <a:accent4>
        <a:srgbClr val="3A3838"/>
      </a:accent4>
      <a:accent5>
        <a:srgbClr val="AEABAB"/>
      </a:accent5>
      <a:accent6>
        <a:srgbClr val="323555"/>
      </a:accent6>
      <a:hlink>
        <a:srgbClr val="252625"/>
      </a:hlink>
      <a:folHlink>
        <a:srgbClr val="32355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d6e455-ac74-4dac-a85f-281444f13a89">
      <Terms xmlns="http://schemas.microsoft.com/office/infopath/2007/PartnerControls"/>
    </lcf76f155ced4ddcb4097134ff3c332f>
    <TaxCatchAll xmlns="93dfb1fd-9939-48e8-b7f9-906c8dec5f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0DA48F075C5B4A97888B7494D83B0A" ma:contentTypeVersion="17" ma:contentTypeDescription="Create a new document." ma:contentTypeScope="" ma:versionID="f9f7894fae7260aa58ad200d2d355cca">
  <xsd:schema xmlns:xsd="http://www.w3.org/2001/XMLSchema" xmlns:xs="http://www.w3.org/2001/XMLSchema" xmlns:p="http://schemas.microsoft.com/office/2006/metadata/properties" xmlns:ns2="3ed6e455-ac74-4dac-a85f-281444f13a89" xmlns:ns3="93dfb1fd-9939-48e8-b7f9-906c8dec5f83" targetNamespace="http://schemas.microsoft.com/office/2006/metadata/properties" ma:root="true" ma:fieldsID="96af336797c6b0f4e80653d82f7e21c7" ns2:_="" ns3:_="">
    <xsd:import namespace="3ed6e455-ac74-4dac-a85f-281444f13a89"/>
    <xsd:import namespace="93dfb1fd-9939-48e8-b7f9-906c8dec5f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d6e455-ac74-4dac-a85f-281444f13a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a14d781-0189-441e-87ef-c208f4138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fb1fd-9939-48e8-b7f9-906c8dec5f8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e4711-15c2-4032-ae7d-782264aaa624}" ma:internalName="TaxCatchAll" ma:showField="CatchAllData" ma:web="93dfb1fd-9939-48e8-b7f9-906c8dec5f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C53C13-48C7-4544-93BF-9003A9BB3E88}">
  <ds:schemaRefs>
    <ds:schemaRef ds:uri="3ed6e455-ac74-4dac-a85f-281444f13a89"/>
    <ds:schemaRef ds:uri="93dfb1fd-9939-48e8-b7f9-906c8dec5f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225052-F2B8-49FC-A412-5D27ABF231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C0829F-ABE3-42F2-B5A4-A4D6E692BB26}">
  <ds:schemaRefs>
    <ds:schemaRef ds:uri="3ed6e455-ac74-4dac-a85f-281444f13a89"/>
    <ds:schemaRef ds:uri="93dfb1fd-9939-48e8-b7f9-906c8dec5f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Black</vt:lpstr>
      <vt:lpstr>Calibri</vt:lpstr>
      <vt:lpstr>PT Sans</vt:lpstr>
      <vt:lpstr>PT Sans Caption</vt:lpstr>
      <vt:lpstr>PT Sans Narrow</vt:lpstr>
      <vt:lpstr>Wingdings</vt:lpstr>
      <vt:lpstr>Master</vt:lpstr>
      <vt:lpstr>think-cell Folie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Filippo Di Giovanni</dc:creator>
  <cp:lastModifiedBy>Maurits De Roover</cp:lastModifiedBy>
  <cp:revision>14</cp:revision>
  <dcterms:created xsi:type="dcterms:W3CDTF">2017-04-28T20:36:13Z</dcterms:created>
  <dcterms:modified xsi:type="dcterms:W3CDTF">2025-04-09T12:26:08Z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0x010100C40DA48F075C5B4A97888B7494D83B0A</vt:lpwstr>
  </property>
  <property fmtid="{D5CDD505-2E9C-101B-9397-08002B2CF9AE}" pid="3" name="AuthorIds_UIVersion_512">
    <vt:lpwstr>6</vt:lpwstr>
  </property>
  <property fmtid="{D5CDD505-2E9C-101B-9397-08002B2CF9AE}" pid="4" name="MediaServiceImageTags">
    <vt:lpwstr/>
  </property>
</Properties>
</file>